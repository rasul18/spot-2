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Покриття тестами (%)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722-49AA-B0EE-0D4232899AA4}"/>
              </c:ext>
            </c:extLst>
          </c:dPt>
          <c:dPt>
            <c:idx val="1"/>
            <c:invertIfNegative val="0"/>
            <c:bubble3D val="0"/>
            <c:spPr>
              <a:solidFill>
                <a:srgbClr val="1E8B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22-49AA-B0EE-0D4232899AA4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22-49AA-B0EE-0D4232899AA4}"/>
              </c:ext>
            </c:extLst>
          </c:dPt>
          <c:dPt>
            <c:idx val="3"/>
            <c:invertIfNegative val="0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22-49AA-B0EE-0D4232899A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5C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MediaPlayer</c:v>
                </c:pt>
                <c:pt idx="1">
                  <c:v>SearchBar</c:v>
                </c:pt>
                <c:pt idx="2">
                  <c:v>PlayList</c:v>
                </c:pt>
                <c:pt idx="3">
                  <c:v>AuthModule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97</c:v>
                </c:pt>
                <c:pt idx="2">
                  <c:v>91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22-49AA-B0EE-0D4232899A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Швидкість завантаження (мс)</c:v>
                </c:pt>
              </c:strCache>
            </c:strRef>
          </c:tx>
          <c:spPr>
            <a:ln w="31750" cap="flat">
              <a:solidFill>
                <a:srgbClr val="1E8BC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BC3"/>
              </a:solidFill>
              <a:ln w="9525" cap="flat">
                <a:solidFill>
                  <a:srgbClr val="1E8BC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v0.1</c:v>
                </c:pt>
                <c:pt idx="1">
                  <c:v>v0.2</c:v>
                </c:pt>
                <c:pt idx="2">
                  <c:v>v0.3</c:v>
                </c:pt>
                <c:pt idx="3">
                  <c:v>v0.4</c:v>
                </c:pt>
                <c:pt idx="4">
                  <c:v>v0.5</c:v>
                </c:pt>
                <c:pt idx="5">
                  <c:v>v1.0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3800</c:v>
                </c:pt>
                <c:pt idx="1">
                  <c:v>3100</c:v>
                </c:pt>
                <c:pt idx="2">
                  <c:v>2700</c:v>
                </c:pt>
                <c:pt idx="3">
                  <c:v>2200</c:v>
                </c:pt>
                <c:pt idx="4">
                  <c:v>1900</c:v>
                </c:pt>
                <c:pt idx="5">
                  <c:v>1200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D84-468D-AB1C-4883474F67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Час до інтерактивності (мс)</c:v>
                </c:pt>
              </c:strCache>
            </c:strRef>
          </c:tx>
          <c:spPr>
            <a:ln w="3175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v0.1</c:v>
                </c:pt>
                <c:pt idx="1">
                  <c:v>v0.2</c:v>
                </c:pt>
                <c:pt idx="2">
                  <c:v>v0.3</c:v>
                </c:pt>
                <c:pt idx="3">
                  <c:v>v0.4</c:v>
                </c:pt>
                <c:pt idx="4">
                  <c:v>v0.5</c:v>
                </c:pt>
                <c:pt idx="5">
                  <c:v>v1.0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5200</c:v>
                </c:pt>
                <c:pt idx="1">
                  <c:v>4600</c:v>
                </c:pt>
                <c:pt idx="2">
                  <c:v>4100</c:v>
                </c:pt>
                <c:pt idx="3">
                  <c:v>3600</c:v>
                </c:pt>
                <c:pt idx="4">
                  <c:v>3200</c:v>
                </c:pt>
                <c:pt idx="5">
                  <c:v>3100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D84-468D-AB1C-4883474F6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Час розробки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4C-485B-8AB2-1CB4EC70CE9D}"/>
              </c:ext>
            </c:extLst>
          </c:dPt>
          <c:dPt>
            <c:idx val="1"/>
            <c:bubble3D val="0"/>
            <c:spPr>
              <a:solidFill>
                <a:srgbClr val="1E8B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4C-485B-8AB2-1CB4EC70CE9D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4C-485B-8AB2-1CB4EC70CE9D}"/>
              </c:ext>
            </c:extLst>
          </c:dPt>
          <c:dPt>
            <c:idx val="3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4C-485B-8AB2-1CB4EC70CE9D}"/>
              </c:ext>
            </c:extLst>
          </c:dPt>
          <c:dPt>
            <c:idx val="4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4C-485B-8AB2-1CB4EC70CE9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4C-485B-8AB2-1CB4EC70CE9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4C-485B-8AB2-1CB4EC70CE9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4C-485B-8AB2-1CB4EC70CE9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4C-485B-8AB2-1CB4EC70CE9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4C-485B-8AB2-1CB4EC70CE9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UI Components</c:v>
                </c:pt>
                <c:pt idx="1">
                  <c:v>State Management</c:v>
                </c:pt>
                <c:pt idx="2">
                  <c:v>API Integration</c:v>
                </c:pt>
                <c:pt idx="3">
                  <c:v>Testing</c:v>
                </c:pt>
                <c:pt idx="4">
                  <c:v>Optimization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34C-485B-8AB2-1CB4EC70CE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36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Київський національний університет будівництва і архітектури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301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DE8"/>
                </a:solidFill>
              </a:rPr>
              <a:t>Кафедра Інформаційних технологій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64008" cy="237744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49808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</a:rPr>
              <a:t>Розробка веб-сервісу медіа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</a:rPr>
              <a:t>контенту на фреймворку React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92240" y="822960"/>
            <a:ext cx="2103120" cy="210312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1143000"/>
            <a:ext cx="1463040" cy="1463040"/>
          </a:xfrm>
          <a:prstGeom prst="ellipse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813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React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27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Виконав: здобувач 2 рівня вищої освіти  Азімов Расул Ельшанович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Наукові керівники: </a:t>
            </a:r>
            <a:r>
              <a:rPr lang="en-US" sz="1000" dirty="0">
                <a:solidFill>
                  <a:srgbClr val="2C3E50"/>
                </a:solidFill>
              </a:rPr>
              <a:t>Науменко Ю.О.,  д.т.н., професор, завідувач кафедри ІТ  |  Гончаренко Т.А.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Мета кваліфікаційної роботи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5303520" cy="219456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Розробка архітектури та програмна реалізація веб-сервісу для управління та відтворення </a:t>
            </a:r>
            <a:r>
              <a:rPr lang="uk-UA" sz="1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медіаконтенту</a:t>
            </a:r>
            <a:r>
              <a:rPr lang="uk-UA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, що забезпечує користувачам зручний доступ до мультимедійних файлів, високу швидкість взаємодії та адаптивність під різні типи пристроїв. 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777240"/>
            <a:ext cx="25603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Мета роботи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651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</a:rPr>
              <a:t>Веб-сервіс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</a:rPr>
              <a:t>медіа контенту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</a:rPr>
              <a:t>на React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000" b="1" dirty="0" err="1">
                <a:solidFill>
                  <a:srgbClr val="FFFFFF"/>
                </a:solidFill>
              </a:rPr>
              <a:t>Методи</a:t>
            </a:r>
            <a:r>
              <a:rPr lang="ru-RU" sz="2000" b="1" dirty="0">
                <a:solidFill>
                  <a:srgbClr val="FFFFFF"/>
                </a:solidFill>
              </a:rPr>
              <a:t> </a:t>
            </a:r>
            <a:r>
              <a:rPr lang="ru-RU" sz="2000" b="1" dirty="0" err="1">
                <a:solidFill>
                  <a:srgbClr val="FFFFFF"/>
                </a:solidFill>
              </a:rPr>
              <a:t>дослідження</a:t>
            </a:r>
            <a:r>
              <a:rPr lang="ru-RU" sz="2000" b="1" dirty="0">
                <a:solidFill>
                  <a:srgbClr val="FFFFFF"/>
                </a:solidFill>
              </a:rPr>
              <a:t>.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8638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C3E50"/>
                </a:solidFill>
              </a:rPr>
              <a:t>провести </a:t>
            </a:r>
            <a:r>
              <a:rPr lang="ru-RU" sz="1000" dirty="0" err="1">
                <a:solidFill>
                  <a:srgbClr val="2C3E50"/>
                </a:solidFill>
              </a:rPr>
              <a:t>порівняльний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аналіз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сучасних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технологій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розробки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медіа</a:t>
            </a:r>
            <a:r>
              <a:rPr lang="ru-RU" sz="1000" dirty="0">
                <a:solidFill>
                  <a:srgbClr val="2C3E50"/>
                </a:solidFill>
              </a:rPr>
              <a:t>- платформ; 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243230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2219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обґрунтувати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вибір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технологічного</a:t>
            </a:r>
            <a:r>
              <a:rPr lang="ru-RU" sz="1000" dirty="0">
                <a:solidFill>
                  <a:srgbClr val="2C3E50"/>
                </a:solidFill>
              </a:rPr>
              <a:t> стеку (</a:t>
            </a:r>
            <a:r>
              <a:rPr lang="en-US" sz="1000" dirty="0">
                <a:solidFill>
                  <a:srgbClr val="2C3E50"/>
                </a:solidFill>
              </a:rPr>
              <a:t>React 19, Node.js, Express 5, MongoDB) </a:t>
            </a:r>
            <a:r>
              <a:rPr lang="ru-RU" sz="1000" dirty="0">
                <a:solidFill>
                  <a:srgbClr val="2C3E50"/>
                </a:solidFill>
              </a:rPr>
              <a:t>та </a:t>
            </a:r>
            <a:r>
              <a:rPr lang="ru-RU" sz="1000" dirty="0" err="1">
                <a:solidFill>
                  <a:srgbClr val="2C3E50"/>
                </a:solidFill>
              </a:rPr>
              <a:t>супутніх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інструментів</a:t>
            </a:r>
            <a:r>
              <a:rPr lang="ru-RU" sz="1000" dirty="0">
                <a:solidFill>
                  <a:srgbClr val="2C3E50"/>
                </a:solidFill>
              </a:rPr>
              <a:t> (</a:t>
            </a:r>
            <a:r>
              <a:rPr lang="en-US" sz="1000" dirty="0">
                <a:solidFill>
                  <a:srgbClr val="2C3E50"/>
                </a:solidFill>
              </a:rPr>
              <a:t>Context API, React Router DOM, Tailwind CSS);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3907536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Text 7"/>
          <p:cNvSpPr/>
          <p:nvPr/>
        </p:nvSpPr>
        <p:spPr>
          <a:xfrm>
            <a:off x="530352" y="3697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спроектувати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архітектуру</a:t>
            </a:r>
            <a:r>
              <a:rPr lang="ru-RU" sz="1000" dirty="0">
                <a:solidFill>
                  <a:srgbClr val="2C3E50"/>
                </a:solidFill>
              </a:rPr>
              <a:t> веб-</a:t>
            </a:r>
            <a:r>
              <a:rPr lang="ru-RU" sz="1000" dirty="0" err="1">
                <a:solidFill>
                  <a:srgbClr val="2C3E50"/>
                </a:solidFill>
              </a:rPr>
              <a:t>сервісу</a:t>
            </a:r>
            <a:r>
              <a:rPr lang="ru-RU" sz="1000" dirty="0">
                <a:solidFill>
                  <a:srgbClr val="2C3E50"/>
                </a:solidFill>
              </a:rPr>
              <a:t> та структуру </a:t>
            </a:r>
            <a:r>
              <a:rPr lang="ru-RU" sz="1000" dirty="0" err="1">
                <a:solidFill>
                  <a:srgbClr val="2C3E50"/>
                </a:solidFill>
              </a:rPr>
              <a:t>бази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даних</a:t>
            </a:r>
            <a:r>
              <a:rPr lang="ru-RU" sz="1000" dirty="0">
                <a:solidFill>
                  <a:srgbClr val="2C3E50"/>
                </a:solidFill>
              </a:rPr>
              <a:t> для </a:t>
            </a:r>
            <a:r>
              <a:rPr lang="ru-RU" sz="1000" dirty="0" err="1">
                <a:solidFill>
                  <a:srgbClr val="2C3E50"/>
                </a:solidFill>
              </a:rPr>
              <a:t>зберігання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користувацьких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даних</a:t>
            </a:r>
            <a:r>
              <a:rPr lang="ru-RU" sz="1000" dirty="0">
                <a:solidFill>
                  <a:srgbClr val="2C3E50"/>
                </a:solidFill>
              </a:rPr>
              <a:t> і </a:t>
            </a:r>
            <a:r>
              <a:rPr lang="ru-RU" sz="1000" dirty="0" err="1">
                <a:solidFill>
                  <a:srgbClr val="2C3E50"/>
                </a:solidFill>
              </a:rPr>
              <a:t>метаданих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медіафайлів</a:t>
            </a:r>
            <a:r>
              <a:rPr lang="ru-RU" sz="1000" dirty="0">
                <a:solidFill>
                  <a:srgbClr val="2C3E50"/>
                </a:solidFill>
              </a:rPr>
              <a:t>;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841248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78638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реалізувати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функціональні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модулі</a:t>
            </a:r>
            <a:r>
              <a:rPr lang="ru-RU" sz="1000" dirty="0">
                <a:solidFill>
                  <a:srgbClr val="2C3E50"/>
                </a:solidFill>
              </a:rPr>
              <a:t>: </a:t>
            </a:r>
            <a:r>
              <a:rPr lang="ru-RU" sz="1000" dirty="0" err="1">
                <a:solidFill>
                  <a:srgbClr val="2C3E50"/>
                </a:solidFill>
              </a:rPr>
              <a:t>аудіоплеєр</a:t>
            </a:r>
            <a:r>
              <a:rPr lang="ru-RU" sz="1000" dirty="0">
                <a:solidFill>
                  <a:srgbClr val="2C3E50"/>
                </a:solidFill>
              </a:rPr>
              <a:t>, систему </a:t>
            </a:r>
            <a:r>
              <a:rPr lang="ru-RU" sz="1000" dirty="0" err="1">
                <a:solidFill>
                  <a:srgbClr val="2C3E50"/>
                </a:solidFill>
              </a:rPr>
              <a:t>пошуку</a:t>
            </a:r>
            <a:r>
              <a:rPr lang="ru-RU" sz="1000" dirty="0">
                <a:solidFill>
                  <a:srgbClr val="2C3E50"/>
                </a:solidFill>
              </a:rPr>
              <a:t>, </a:t>
            </a:r>
            <a:r>
              <a:rPr lang="ru-RU" sz="1000" dirty="0" err="1">
                <a:solidFill>
                  <a:srgbClr val="2C3E50"/>
                </a:solidFill>
              </a:rPr>
              <a:t>бібліотеку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користувача</a:t>
            </a:r>
            <a:r>
              <a:rPr lang="ru-RU" sz="1000" dirty="0">
                <a:solidFill>
                  <a:srgbClr val="2C3E50"/>
                </a:solidFill>
              </a:rPr>
              <a:t>, систему </a:t>
            </a:r>
            <a:r>
              <a:rPr lang="ru-RU" sz="1000" dirty="0" err="1">
                <a:solidFill>
                  <a:srgbClr val="2C3E50"/>
                </a:solidFill>
              </a:rPr>
              <a:t>рекомендацій</a:t>
            </a:r>
            <a:r>
              <a:rPr lang="ru-RU" sz="1000" dirty="0">
                <a:solidFill>
                  <a:srgbClr val="2C3E50"/>
                </a:solidFill>
              </a:rPr>
              <a:t> та </a:t>
            </a:r>
            <a:r>
              <a:rPr lang="ru-RU" sz="1000" dirty="0" err="1">
                <a:solidFill>
                  <a:srgbClr val="2C3E50"/>
                </a:solidFill>
              </a:rPr>
              <a:t>завантаження</a:t>
            </a:r>
            <a:r>
              <a:rPr lang="ru-RU" sz="1000" dirty="0">
                <a:solidFill>
                  <a:srgbClr val="2C3E50"/>
                </a:solidFill>
              </a:rPr>
              <a:t> контенту;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243713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22783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забезпечити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адаптивність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інтерфейсу</a:t>
            </a:r>
            <a:r>
              <a:rPr lang="ru-RU" sz="1000" dirty="0">
                <a:solidFill>
                  <a:srgbClr val="2C3E50"/>
                </a:solidFill>
              </a:rPr>
              <a:t> для </a:t>
            </a:r>
            <a:r>
              <a:rPr lang="ru-RU" sz="1000" dirty="0" err="1">
                <a:solidFill>
                  <a:srgbClr val="2C3E50"/>
                </a:solidFill>
              </a:rPr>
              <a:t>коректного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відображення</a:t>
            </a:r>
            <a:r>
              <a:rPr lang="ru-RU" sz="1000" dirty="0">
                <a:solidFill>
                  <a:srgbClr val="2C3E50"/>
                </a:solidFill>
              </a:rPr>
              <a:t> на </a:t>
            </a:r>
            <a:r>
              <a:rPr lang="ru-RU" sz="1000" dirty="0" err="1">
                <a:solidFill>
                  <a:srgbClr val="2C3E50"/>
                </a:solidFill>
              </a:rPr>
              <a:t>мобільних</a:t>
            </a:r>
            <a:r>
              <a:rPr lang="ru-RU" sz="1000" dirty="0">
                <a:solidFill>
                  <a:srgbClr val="2C3E50"/>
                </a:solidFill>
              </a:rPr>
              <a:t> та </a:t>
            </a:r>
            <a:r>
              <a:rPr lang="ru-RU" sz="1000" dirty="0" err="1">
                <a:solidFill>
                  <a:srgbClr val="2C3E50"/>
                </a:solidFill>
              </a:rPr>
              <a:t>десктопних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пристроях</a:t>
            </a:r>
            <a:r>
              <a:rPr lang="ru-RU" sz="1000" dirty="0">
                <a:solidFill>
                  <a:srgbClr val="2C3E50"/>
                </a:solidFill>
              </a:rPr>
              <a:t>;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5068" y="3907536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488690"/>
            <a:ext cx="3931920" cy="1087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C3E50"/>
                </a:solidFill>
              </a:rPr>
              <a:t>провести </a:t>
            </a:r>
            <a:r>
              <a:rPr lang="ru-RU" sz="1000" dirty="0" err="1">
                <a:solidFill>
                  <a:srgbClr val="2C3E50"/>
                </a:solidFill>
              </a:rPr>
              <a:t>інтеграцію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із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зовнішніми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сервісами</a:t>
            </a:r>
            <a:r>
              <a:rPr lang="ru-RU" sz="1000" dirty="0">
                <a:solidFill>
                  <a:srgbClr val="2C3E50"/>
                </a:solidFill>
              </a:rPr>
              <a:t> (</a:t>
            </a:r>
            <a:r>
              <a:rPr lang="en-US" sz="1000" dirty="0" err="1">
                <a:solidFill>
                  <a:srgbClr val="2C3E50"/>
                </a:solidFill>
              </a:rPr>
              <a:t>Jamendo</a:t>
            </a:r>
            <a:r>
              <a:rPr lang="en-US" sz="1000" dirty="0">
                <a:solidFill>
                  <a:srgbClr val="2C3E50"/>
                </a:solidFill>
              </a:rPr>
              <a:t> API, </a:t>
            </a:r>
            <a:r>
              <a:rPr lang="en-US" sz="1000" dirty="0" err="1">
                <a:solidFill>
                  <a:srgbClr val="2C3E50"/>
                </a:solidFill>
              </a:rPr>
              <a:t>Cloudinary</a:t>
            </a:r>
            <a:r>
              <a:rPr lang="en-US" sz="1000" dirty="0">
                <a:solidFill>
                  <a:srgbClr val="2C3E50"/>
                </a:solidFill>
              </a:rPr>
              <a:t>) </a:t>
            </a:r>
            <a:r>
              <a:rPr lang="ru-RU" sz="1000" dirty="0">
                <a:solidFill>
                  <a:srgbClr val="2C3E50"/>
                </a:solidFill>
              </a:rPr>
              <a:t>та </a:t>
            </a:r>
            <a:r>
              <a:rPr lang="ru-RU" sz="1000" dirty="0" err="1">
                <a:solidFill>
                  <a:srgbClr val="2C3E50"/>
                </a:solidFill>
              </a:rPr>
              <a:t>тестування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розробленого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сервісу</a:t>
            </a:r>
            <a:r>
              <a:rPr lang="ru-RU" sz="1000" dirty="0">
                <a:solidFill>
                  <a:srgbClr val="2C3E50"/>
                </a:solidFill>
              </a:rPr>
              <a:t>. </a:t>
            </a:r>
            <a:r>
              <a:rPr lang="ru-RU" sz="1000" dirty="0" err="1">
                <a:solidFill>
                  <a:srgbClr val="2C3E50"/>
                </a:solidFill>
              </a:rPr>
              <a:t>Практичне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значення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отриманих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результатів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полягає</a:t>
            </a:r>
            <a:r>
              <a:rPr lang="ru-RU" sz="1000" dirty="0">
                <a:solidFill>
                  <a:srgbClr val="2C3E50"/>
                </a:solidFill>
              </a:rPr>
              <a:t> у </a:t>
            </a:r>
            <a:r>
              <a:rPr lang="ru-RU" sz="1000" dirty="0" err="1">
                <a:solidFill>
                  <a:srgbClr val="2C3E50"/>
                </a:solidFill>
              </a:rPr>
              <a:t>створенні</a:t>
            </a:r>
            <a:r>
              <a:rPr lang="ru-RU" sz="1000" dirty="0">
                <a:solidFill>
                  <a:srgbClr val="2C3E50"/>
                </a:solidFill>
              </a:rPr>
              <a:t> готового до </a:t>
            </a:r>
            <a:r>
              <a:rPr lang="ru-RU" sz="1000" dirty="0" err="1">
                <a:solidFill>
                  <a:srgbClr val="2C3E50"/>
                </a:solidFill>
              </a:rPr>
              <a:t>експлуатації</a:t>
            </a:r>
            <a:r>
              <a:rPr lang="ru-RU" sz="1000" dirty="0">
                <a:solidFill>
                  <a:srgbClr val="2C3E50"/>
                </a:solidFill>
              </a:rPr>
              <a:t> веб-</a:t>
            </a:r>
            <a:r>
              <a:rPr lang="ru-RU" sz="1000" dirty="0" err="1">
                <a:solidFill>
                  <a:srgbClr val="2C3E50"/>
                </a:solidFill>
              </a:rPr>
              <a:t>додатка</a:t>
            </a:r>
            <a:r>
              <a:rPr lang="ru-RU" sz="1000" dirty="0">
                <a:solidFill>
                  <a:srgbClr val="2C3E50"/>
                </a:solidFill>
              </a:rPr>
              <a:t>, </a:t>
            </a:r>
            <a:r>
              <a:rPr lang="ru-RU" sz="1000" dirty="0" err="1">
                <a:solidFill>
                  <a:srgbClr val="2C3E50"/>
                </a:solidFill>
              </a:rPr>
              <a:t>який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може</a:t>
            </a:r>
            <a:r>
              <a:rPr lang="ru-RU" sz="1000" dirty="0">
                <a:solidFill>
                  <a:srgbClr val="2C3E50"/>
                </a:solidFill>
              </a:rPr>
              <a:t> бути </a:t>
            </a:r>
            <a:r>
              <a:rPr lang="ru-RU" sz="1000" dirty="0" err="1">
                <a:solidFill>
                  <a:srgbClr val="2C3E50"/>
                </a:solidFill>
              </a:rPr>
              <a:t>використаний</a:t>
            </a:r>
            <a:r>
              <a:rPr lang="ru-RU" sz="1000" dirty="0">
                <a:solidFill>
                  <a:srgbClr val="2C3E50"/>
                </a:solidFill>
              </a:rPr>
              <a:t> як база для </a:t>
            </a:r>
            <a:r>
              <a:rPr lang="ru-RU" sz="1000" dirty="0" err="1">
                <a:solidFill>
                  <a:srgbClr val="2C3E50"/>
                </a:solidFill>
              </a:rPr>
              <a:t>корпоративних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стрімінгових</a:t>
            </a:r>
            <a:r>
              <a:rPr lang="ru-RU" sz="1000" dirty="0">
                <a:solidFill>
                  <a:srgbClr val="2C3E50"/>
                </a:solidFill>
              </a:rPr>
              <a:t> платформ, </a:t>
            </a:r>
            <a:r>
              <a:rPr lang="ru-RU" sz="1000" dirty="0" err="1">
                <a:solidFill>
                  <a:srgbClr val="2C3E50"/>
                </a:solidFill>
              </a:rPr>
              <a:t>музичних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сервісів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або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приватних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медіаархівів</a:t>
            </a:r>
            <a:r>
              <a:rPr lang="ru-RU" sz="1000" dirty="0">
                <a:solidFill>
                  <a:srgbClr val="2C3E50"/>
                </a:solidFill>
              </a:rPr>
              <a:t>.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Об'єкт та предмет дослідження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Об'єкт дослідження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200" dirty="0" err="1">
                <a:solidFill>
                  <a:srgbClr val="2C3E50"/>
                </a:solidFill>
              </a:rPr>
              <a:t>Процес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розробки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функціонування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сучасних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інформаційних</a:t>
            </a:r>
            <a:r>
              <a:rPr lang="ru-RU" sz="1200" dirty="0">
                <a:solidFill>
                  <a:srgbClr val="2C3E50"/>
                </a:solidFill>
              </a:rPr>
              <a:t> систем </a:t>
            </a:r>
            <a:r>
              <a:rPr lang="ru-RU" sz="1200" dirty="0" err="1">
                <a:solidFill>
                  <a:srgbClr val="2C3E50"/>
                </a:solidFill>
              </a:rPr>
              <a:t>розповсюдження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мультимедійного</a:t>
            </a:r>
            <a:r>
              <a:rPr lang="ru-RU" sz="1200" dirty="0">
                <a:solidFill>
                  <a:srgbClr val="2C3E50"/>
                </a:solidFill>
              </a:rPr>
              <a:t> контенту.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Предмет дослідження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200" dirty="0" err="1">
                <a:solidFill>
                  <a:srgbClr val="2C3E50"/>
                </a:solidFill>
              </a:rPr>
              <a:t>Моделі</a:t>
            </a:r>
            <a:r>
              <a:rPr lang="ru-RU" sz="1200" dirty="0">
                <a:solidFill>
                  <a:srgbClr val="2C3E50"/>
                </a:solidFill>
              </a:rPr>
              <a:t>, </a:t>
            </a:r>
            <a:r>
              <a:rPr lang="ru-RU" sz="1200" dirty="0" err="1">
                <a:solidFill>
                  <a:srgbClr val="2C3E50"/>
                </a:solidFill>
              </a:rPr>
              <a:t>методи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програмні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засоби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створення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клієнтської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серверної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частин</a:t>
            </a:r>
            <a:r>
              <a:rPr lang="ru-RU" sz="1200" dirty="0">
                <a:solidFill>
                  <a:srgbClr val="2C3E50"/>
                </a:solidFill>
              </a:rPr>
              <a:t> веб-</a:t>
            </a:r>
            <a:r>
              <a:rPr lang="ru-RU" sz="1200" dirty="0" err="1">
                <a:solidFill>
                  <a:srgbClr val="2C3E50"/>
                </a:solidFill>
              </a:rPr>
              <a:t>сервісу</a:t>
            </a:r>
            <a:r>
              <a:rPr lang="ru-RU" sz="1200" dirty="0">
                <a:solidFill>
                  <a:srgbClr val="2C3E50"/>
                </a:solidFill>
              </a:rPr>
              <a:t> на </a:t>
            </a:r>
            <a:r>
              <a:rPr lang="ru-RU" sz="1200" dirty="0" err="1">
                <a:solidFill>
                  <a:srgbClr val="2C3E50"/>
                </a:solidFill>
              </a:rPr>
              <a:t>основі</a:t>
            </a:r>
            <a:r>
              <a:rPr lang="ru-RU" sz="1200" dirty="0">
                <a:solidFill>
                  <a:srgbClr val="2C3E50"/>
                </a:solidFill>
              </a:rPr>
              <a:t> стеку </a:t>
            </a:r>
            <a:r>
              <a:rPr lang="en-US" sz="1200" dirty="0">
                <a:solidFill>
                  <a:srgbClr val="2C3E50"/>
                </a:solidFill>
              </a:rPr>
              <a:t>MERN (MongoDB, Express, React, Node.js) </a:t>
            </a:r>
            <a:r>
              <a:rPr lang="ru-RU" sz="1200" dirty="0">
                <a:solidFill>
                  <a:srgbClr val="2C3E50"/>
                </a:solidFill>
              </a:rPr>
              <a:t>для </a:t>
            </a:r>
            <a:r>
              <a:rPr lang="ru-RU" sz="1200" dirty="0" err="1">
                <a:solidFill>
                  <a:srgbClr val="2C3E50"/>
                </a:solidFill>
              </a:rPr>
              <a:t>обробки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відтворення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медіаданих</a:t>
            </a:r>
            <a:r>
              <a:rPr lang="ru-RU" sz="1200" dirty="0">
                <a:solidFill>
                  <a:srgbClr val="2C3E50"/>
                </a:solidFill>
              </a:rPr>
              <a:t>.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Актуальність дослідження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03520" y="822960"/>
            <a:ext cx="3474720" cy="3657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0" y="1005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03520" y="28346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Медіа-стрімінг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у сучасному світі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Актуальність даного дослідження </a:t>
            </a:r>
            <a:r>
              <a:rPr lang="en-US" sz="1200" dirty="0">
                <a:solidFill>
                  <a:srgbClr val="2C3E50"/>
                </a:solidFill>
              </a:rPr>
              <a:t>обумовлена стрімким зростанням споживання медіа-контенту в мережі Інтернет, збільшенням кількості стрімінгових платформ та попитом на зручні, швидкі й адаптивні веб-сервіси.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З огляду на популярність React як провідного інструменту для побудови SPA, існує потреба у дослідженні ефективних підходів до проектування медіа-сервісів: оптимізації завантаження контенту, управління станом та забезпечення плавного відтворення.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Наукова новизна роботи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0" y="777240"/>
            <a:ext cx="3291840" cy="374904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097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⚛️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React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Фреймворк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Компонентна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архітектура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медіа-сервісу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Наукова новизна роботи полягає у розробці комплексного підходу до проектування веб-сервісу медіа контенту на основі React, що поєднує: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ефективну компонентну архітектуру для роботи з великими обсягами медіа-даних;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2257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оптимізоване управління станом через Redux Toolkit та React Query;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950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адаптивний медіа-плеєр з підтримкою різних форматів та якості відтворення;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5643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систему кешування та lazy-loading для підвищення продуктивності.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Практичне значення роботи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200400" cy="3566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Веб-сервіс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медіа контенту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DE8"/>
                </a:solidFill>
              </a:rPr>
              <a:t>React • 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CDE8"/>
                </a:solidFill>
              </a:rPr>
              <a:t>Responsive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822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Практичне значення роботи </a:t>
            </a:r>
            <a:r>
              <a:rPr lang="en-US" sz="1200" dirty="0">
                <a:solidFill>
                  <a:srgbClr val="2C3E50"/>
                </a:solidFill>
              </a:rPr>
              <a:t>полягає в можливості безпосереднього використання розробленого веб-сервісу медіа контенту в освітніх установах, розважальних платформах та корпоративних системах.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23317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Запропоновані підходи до побудови компонентної архітектури можуть бути використані як шаблон для розробки інших React-застосунків з медіа-функціоналом. Розроблений сервіс може бути інтегрований з популярними CDN та хмарними сховищами.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Архітектура веб-сервісу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749040" cy="3931920"/>
          </a:xfrm>
          <a:prstGeom prst="rect">
            <a:avLst/>
          </a:prstGeom>
          <a:solidFill>
            <a:srgbClr val="D6E8F7"/>
          </a:solidFill>
          <a:ln w="1905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749040" cy="4114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КЛІЄНТ (React SPA)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3291840" cy="393192"/>
          </a:xfrm>
          <a:prstGeom prst="rect">
            <a:avLst/>
          </a:prstGeom>
          <a:solidFill>
            <a:srgbClr val="DAEAF9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UI Компоненти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3291840" cy="393192"/>
          </a:xfrm>
          <a:prstGeom prst="rect">
            <a:avLst/>
          </a:prstGeom>
          <a:solidFill>
            <a:srgbClr val="C5DCEF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React 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291840" cy="393192"/>
          </a:xfrm>
          <a:prstGeom prst="rect">
            <a:avLst/>
          </a:prstGeom>
          <a:solidFill>
            <a:srgbClr val="DAEAF9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68296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Redux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3291840" cy="393192"/>
          </a:xfrm>
          <a:prstGeom prst="rect">
            <a:avLst/>
          </a:prstGeom>
          <a:solidFill>
            <a:srgbClr val="C5DCEF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Media Player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92424"/>
            <a:ext cx="3291840" cy="393192"/>
          </a:xfrm>
          <a:prstGeom prst="rect">
            <a:avLst/>
          </a:prstGeom>
          <a:solidFill>
            <a:srgbClr val="DAEAF9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92424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API 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2606040"/>
            <a:ext cx="82296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HTTPS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822960"/>
            <a:ext cx="3749040" cy="3931920"/>
          </a:xfrm>
          <a:prstGeom prst="rect">
            <a:avLst/>
          </a:prstGeom>
          <a:solidFill>
            <a:srgbClr val="FEF9E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822960"/>
            <a:ext cx="374904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СЕРВЕР (Node.js / REST API)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1344168"/>
            <a:ext cx="3291840" cy="393192"/>
          </a:xfrm>
          <a:prstGeom prst="rect">
            <a:avLst/>
          </a:prstGeom>
          <a:solidFill>
            <a:srgbClr val="FEF0D8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344168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1856232"/>
            <a:ext cx="3291840" cy="393192"/>
          </a:xfrm>
          <a:prstGeom prst="rect">
            <a:avLst/>
          </a:prstGeom>
          <a:solidFill>
            <a:srgbClr val="FDE5C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856232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Auth 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2368296"/>
            <a:ext cx="3291840" cy="393192"/>
          </a:xfrm>
          <a:prstGeom prst="rect">
            <a:avLst/>
          </a:prstGeom>
          <a:solidFill>
            <a:srgbClr val="FEF0D8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368296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Media Service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2880360"/>
            <a:ext cx="3291840" cy="393192"/>
          </a:xfrm>
          <a:prstGeom prst="rect">
            <a:avLst/>
          </a:prstGeom>
          <a:solidFill>
            <a:srgbClr val="FDE5C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880360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Database (MongoDB)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392424"/>
            <a:ext cx="3291840" cy="393192"/>
          </a:xfrm>
          <a:prstGeom prst="rect">
            <a:avLst/>
          </a:prstGeom>
          <a:solidFill>
            <a:srgbClr val="FEF0D8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392424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CDN / Storage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1. Архітектура веб-сервісу медіа контенту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Компонентна архітектура React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914400"/>
            <a:ext cx="219456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MediaPage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SearchBar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Footer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834640"/>
            <a:ext cx="1463040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VideoPlayer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834640"/>
            <a:ext cx="1463040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PlayList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834640"/>
            <a:ext cx="1463040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React Hooks: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useMedia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usePlayer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useAuth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useSearch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2. Компонентна структура React-застосунку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Управління станом застосунку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DA4"/>
                </a:solidFill>
              </a:rPr>
              <a:t>Використання Redux Toolkit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463040" cy="777240"/>
          </a:xfrm>
          <a:prstGeom prst="rect">
            <a:avLst/>
          </a:prstGeom>
          <a:solidFill>
            <a:srgbClr val="D6E8F7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Компонент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298448"/>
            <a:ext cx="1463040" cy="777240"/>
          </a:xfrm>
          <a:prstGeom prst="rect">
            <a:avLst/>
          </a:prstGeom>
          <a:solidFill>
            <a:srgbClr val="D4EDD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</a:rPr>
              <a:t>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</a:rPr>
              <a:t>Creator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298448"/>
            <a:ext cx="1463040" cy="777240"/>
          </a:xfrm>
          <a:prstGeom prst="rect">
            <a:avLst/>
          </a:prstGeom>
          <a:solidFill>
            <a:srgbClr val="1A3A5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Redux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98448"/>
            <a:ext cx="1463040" cy="777240"/>
          </a:xfrm>
          <a:prstGeom prst="rect">
            <a:avLst/>
          </a:prstGeom>
          <a:solidFill>
            <a:srgbClr val="FFF3CD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56404"/>
                </a:solidFill>
              </a:rPr>
              <a:t>Reducer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56404"/>
                </a:solidFill>
              </a:rPr>
              <a:t>Slice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298448"/>
            <a:ext cx="1463040" cy="777240"/>
          </a:xfrm>
          <a:prstGeom prst="rect">
            <a:avLst/>
          </a:prstGeom>
          <a:solidFill>
            <a:srgbClr val="F8D7D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21C24"/>
                </a:solidFill>
              </a:rPr>
              <a:t>Selector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21C24"/>
                </a:solidFill>
              </a:rPr>
              <a:t>(memoized)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5623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9671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1695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Slices стану: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8412480" cy="384048"/>
          </a:xfrm>
          <a:prstGeom prst="rect">
            <a:avLst/>
          </a:prstGeom>
          <a:solidFill>
            <a:srgbClr val="D6E8F7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mediaSlice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7889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Список медіа-матеріалів, поточний елемент, фільтри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384048"/>
          </a:xfrm>
          <a:prstGeom prst="rect">
            <a:avLst/>
          </a:prstGeom>
          <a:solidFill>
            <a:srgbClr val="E8F4FD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playerSlice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32461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Стан плеєра: позиція, гучність, режим відтворення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solidFill>
            <a:srgbClr val="D6E8F7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authSlice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37033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Авторизація користувача, токен, профіль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solidFill>
            <a:srgbClr val="E8F4FD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uiSlice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41605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Модальні вікна, сповіщення, теми оформлення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REST API та серверна інтеграція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Основні ендпоінти API: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61288"/>
          <a:ext cx="8412480" cy="274320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Ендпоінт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/api/media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Отримати список медіа-матеріалів з фільтрами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/api/media/:id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Отримати конкретний медіа-елемент за ID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/api/media/:id/stream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Потокова передача відео/аудіо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4E00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/api/auth/login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Авторизація користувача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/api/search?q=...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Пошук медіа за ключовим словом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/api/playlists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Отримати плейлисти користувача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Розробка медіа-плеєра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84632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▶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484632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1920240" cy="73152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13432" y="33284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⏮  ⏪  ▶  ⏩  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🔊  ─────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</a:rPr>
              <a:t>00:45 / 03:22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Функції медіа-плеєра: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261872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2161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Потокове відтворення відео/аудіо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609344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5636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Адаптивна якість (HLS/DASH)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956816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110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Субтитри та мультимовність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04288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258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Повноекранний режим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651760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Налаштування швидкості (0.5x–2x)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999232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953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Черга відтворення (Playlist)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346704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3009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Режим Picture-in-Picture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694176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36484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Keyboard shortcuts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3. Інтерфейс медіа-плеєра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Адаптивний дизайн та UI/UX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84048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3840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🖥  Desktop (1920×1080)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657600" cy="164592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▶  Video Preview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3657600" cy="43891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71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 колонки  •  Sidebar навігація  •  Широкий плеєр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841248"/>
            <a:ext cx="201168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841248"/>
            <a:ext cx="2011680" cy="347472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841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📱 Tablet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61872"/>
            <a:ext cx="1828800" cy="100584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2618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80560" y="2322576"/>
            <a:ext cx="1828800" cy="82296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2257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 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841248"/>
            <a:ext cx="137160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841248"/>
            <a:ext cx="13716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841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📱 Mobile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8272" y="1261872"/>
            <a:ext cx="1225296" cy="73152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1261872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48272" y="2048256"/>
            <a:ext cx="1225296" cy="118872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048256"/>
            <a:ext cx="12252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Stack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layout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Технології: Tailwind CSS  •  CSS Grid / Flexbox  •  React Responsive  •  Media Queries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4. Адаптивний інтерфейс на різних пристроях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Оптимізація продуктивності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Splitting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React.lazy() та Suspense для динамічного завантаження компонентів, зменшення bundle до ~40%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1E8B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868680"/>
            <a:ext cx="4114800" cy="41148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Lazy Loading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Intersection Observer API для відкладеного завантаження медіа-елементів у списках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5176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Мемоїзація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useMemo та useCallback для запобігання зайвих ре-рендерів критичних компонентів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651760"/>
            <a:ext cx="411480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Virtual 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react-window для рендерингу великих списків медіа (1000+ елементів без гальмувань)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Блок-схема алгоритму завантаження медіа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2286000" cy="54864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Запит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користувача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481328"/>
            <a:ext cx="2286000" cy="5486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81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Перевірка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кешу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029968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39696"/>
            <a:ext cx="2286000" cy="5486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1396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запит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688336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798064"/>
            <a:ext cx="228600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7980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Обробка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даних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3346704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456432"/>
            <a:ext cx="228600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4564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Рендер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компонента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572768"/>
            <a:ext cx="164592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572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Є в кеші?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5724"/>
                </a:solidFill>
              </a:rPr>
              <a:t>ТАК → повернути кеш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21C24"/>
                </a:solidFill>
              </a:rPr>
              <a:t>НІ → виконати запит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914400"/>
            <a:ext cx="2560320" cy="301752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</a:rPr>
              <a:t>React Query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389888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3441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Автоматичне кешування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783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Background refetch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267712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2219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Loading/Error стани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706624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6609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Pagination підтримка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145536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0998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Optimistic updates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5. Блок-схема алгоритму отримання медіа даних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Тестування веб-сервісу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Таблиця 1. Результати тестування компонентів (Jest + React Testing Library)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33856"/>
          <a:ext cx="4114800" cy="219456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Компонент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 тести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Покриття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MediaPlayer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18 / 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12 / 12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94%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SearchBar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10 / 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6 / 6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97%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PlayList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14 / 14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8 / 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Auth Module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22 / 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14 / 14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Таблиця 2. Метрики продуктивності (Lighthouse)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33856"/>
          <a:ext cx="4114800" cy="21945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Метрика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Значення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Performance Score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92 / 100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First Contentful Paint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1.2 с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Largest Contentful Paint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2.3 с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Time to Interactive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3.1 с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Cumulative Layout Shift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365760" y="3474720"/>
          <a:ext cx="84124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Результати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828800" cy="13716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92/100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Lighthouse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822960"/>
            <a:ext cx="1828800" cy="13716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41448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Покриття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тестами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1828800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1.2с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08576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First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Contentful Paint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822960"/>
            <a:ext cx="182880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5704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19 слайдів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75704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Презентація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захисту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331720"/>
          <a:ext cx="50292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5486400" y="2331720"/>
          <a:ext cx="3383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1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6. Динаміка продуктивності       Рисунок 7. Розподіл часу розробки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Висновки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92024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438912" cy="43891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Розроблено веб-сервіс медіа контенту на фреймворку React з компонентною архітектурою, що включає медіа-плеєр, систему пошуку, плейлисти та управління станом через Redux Toolkit.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06240" cy="192024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438912" cy="43891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9864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Реалізовано ефективне управління станом застосунку з використанням Redux Toolkit та React Query, що забезпечує кешування запитів та мінімізацію зайвих ре-рендерів.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06240" cy="1920240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68680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88696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Досягнуто показник продуктивності Lighthouse 92/100, First Contentful Paint 1.2 с, що відповідає стандартам Core Web Vitals для сучасних веб-застосунків.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206240" cy="1920240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880360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89864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Покриття коду автоматичними тестами складає 95%, що підтверджує надійність та стабільність розробленого сервісу при різних сценаріях використання.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3657600" cy="3657600"/>
          </a:xfrm>
          <a:prstGeom prst="ellipse">
            <a:avLst/>
          </a:prstGeom>
          <a:solidFill>
            <a:srgbClr val="1E8BC3">
              <a:alpha val="20000"/>
            </a:srgbClr>
          </a:solidFill>
          <a:ln w="12700">
            <a:solidFill>
              <a:srgbClr val="1E8BC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4572000" cy="4572000"/>
          </a:xfrm>
          <a:prstGeom prst="ellipse">
            <a:avLst/>
          </a:prstGeom>
          <a:solidFill>
            <a:srgbClr val="1E8BC3">
              <a:alpha val="15000"/>
            </a:srgbClr>
          </a:solidFill>
          <a:ln w="12700">
            <a:solidFill>
              <a:srgbClr val="1E8BC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E8BC3">
              <a:alpha val="15000"/>
            </a:srgbClr>
          </a:solidFill>
          <a:ln w="12700">
            <a:solidFill>
              <a:srgbClr val="1E8BC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840480"/>
            <a:ext cx="3291840" cy="3291840"/>
          </a:xfrm>
          <a:prstGeom prst="ellipse">
            <a:avLst/>
          </a:prstGeom>
          <a:solidFill>
            <a:srgbClr val="1E8BC3">
              <a:alpha val="15000"/>
            </a:srgbClr>
          </a:solidFill>
          <a:ln w="12700">
            <a:solidFill>
              <a:srgbClr val="1E8BC3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Дякую за увагу!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8F7"/>
                </a:solidFill>
              </a:rPr>
              <a:t>Азімов Расул Ельшанович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DE8"/>
                </a:solidFill>
              </a:rPr>
              <a:t>Науменко Ю.О.  |  Гончаренко Т.А.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ED4"/>
                </a:solidFill>
              </a:rPr>
              <a:t>Київський національний університет будівництва і архітектури  •  Кафедра ІТ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1184</Words>
  <Application>Microsoft Office PowerPoint</Application>
  <PresentationFormat>Экран (16:9)</PresentationFormat>
  <Paragraphs>292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веб-сервісу медіа контенту на фреймворку React</dc:title>
  <dc:subject>PptxGenJS Presentation</dc:subject>
  <dc:creator>Азімов Расул Ельшанович</dc:creator>
  <cp:lastModifiedBy>Расул Азімов</cp:lastModifiedBy>
  <cp:revision>3</cp:revision>
  <dcterms:created xsi:type="dcterms:W3CDTF">2026-05-18T15:58:50Z</dcterms:created>
  <dcterms:modified xsi:type="dcterms:W3CDTF">2026-05-18T16:13:38Z</dcterms:modified>
</cp:coreProperties>
</file>