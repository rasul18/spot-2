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Покриття тестами (%)</c:v>
                </c:pt>
              </c:strCache>
            </c:strRef>
          </c:tx>
          <c:spPr>
            <a:solidFill>
              <a:srgbClr val="2E6DA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722-49AA-B0EE-0D4232899AA4}"/>
              </c:ext>
            </c:extLst>
          </c:dPt>
          <c:dPt>
            <c:idx val="1"/>
            <c:invertIfNegative val="0"/>
            <c:bubble3D val="0"/>
            <c:spPr>
              <a:solidFill>
                <a:srgbClr val="1E8B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22-49AA-B0EE-0D4232899AA4}"/>
              </c:ext>
            </c:extLst>
          </c:dPt>
          <c:dPt>
            <c:idx val="2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22-49AA-B0EE-0D4232899AA4}"/>
              </c:ext>
            </c:extLst>
          </c:dPt>
          <c:dPt>
            <c:idx val="3"/>
            <c:invertIfNegative val="0"/>
            <c:bubble3D val="0"/>
            <c:spPr>
              <a:solidFill>
                <a:srgbClr val="1A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22-49AA-B0EE-0D4232899AA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A5C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MediaPlayer</c:v>
                </c:pt>
                <c:pt idx="1">
                  <c:v>SearchBar</c:v>
                </c:pt>
                <c:pt idx="2">
                  <c:v>PlayList</c:v>
                </c:pt>
                <c:pt idx="3">
                  <c:v>AuthModule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97</c:v>
                </c:pt>
                <c:pt idx="2">
                  <c:v>91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722-49AA-B0EE-0D4232899A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Швидкість завантаження (мс)</c:v>
                </c:pt>
              </c:strCache>
            </c:strRef>
          </c:tx>
          <c:spPr>
            <a:ln w="31750" cap="flat">
              <a:solidFill>
                <a:srgbClr val="1E8BC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BC3"/>
              </a:solidFill>
              <a:ln w="9525" cap="flat">
                <a:solidFill>
                  <a:srgbClr val="1E8BC3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v0.1</c:v>
                </c:pt>
                <c:pt idx="1">
                  <c:v>v0.2</c:v>
                </c:pt>
                <c:pt idx="2">
                  <c:v>v0.3</c:v>
                </c:pt>
                <c:pt idx="3">
                  <c:v>v0.4</c:v>
                </c:pt>
                <c:pt idx="4">
                  <c:v>v0.5</c:v>
                </c:pt>
                <c:pt idx="5">
                  <c:v>v1.0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3800</c:v>
                </c:pt>
                <c:pt idx="1">
                  <c:v>3100</c:v>
                </c:pt>
                <c:pt idx="2">
                  <c:v>2700</c:v>
                </c:pt>
                <c:pt idx="3">
                  <c:v>2200</c:v>
                </c:pt>
                <c:pt idx="4">
                  <c:v>1900</c:v>
                </c:pt>
                <c:pt idx="5">
                  <c:v>1200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D84-468D-AB1C-4883474F67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Час до інтерактивності (мс)</c:v>
                </c:pt>
              </c:strCache>
            </c:strRef>
          </c:tx>
          <c:spPr>
            <a:ln w="3175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v0.1</c:v>
                </c:pt>
                <c:pt idx="1">
                  <c:v>v0.2</c:v>
                </c:pt>
                <c:pt idx="2">
                  <c:v>v0.3</c:v>
                </c:pt>
                <c:pt idx="3">
                  <c:v>v0.4</c:v>
                </c:pt>
                <c:pt idx="4">
                  <c:v>v0.5</c:v>
                </c:pt>
                <c:pt idx="5">
                  <c:v>v1.0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5200</c:v>
                </c:pt>
                <c:pt idx="1">
                  <c:v>4600</c:v>
                </c:pt>
                <c:pt idx="2">
                  <c:v>4100</c:v>
                </c:pt>
                <c:pt idx="3">
                  <c:v>3600</c:v>
                </c:pt>
                <c:pt idx="4">
                  <c:v>3200</c:v>
                </c:pt>
                <c:pt idx="5">
                  <c:v>3100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D84-468D-AB1C-4883474F67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Час розробки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6DA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34C-485B-8AB2-1CB4EC70CE9D}"/>
              </c:ext>
            </c:extLst>
          </c:dPt>
          <c:dPt>
            <c:idx val="1"/>
            <c:bubble3D val="0"/>
            <c:spPr>
              <a:solidFill>
                <a:srgbClr val="1E8B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34C-485B-8AB2-1CB4EC70CE9D}"/>
              </c:ext>
            </c:extLst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34C-485B-8AB2-1CB4EC70CE9D}"/>
              </c:ext>
            </c:extLst>
          </c:dPt>
          <c:dPt>
            <c:idx val="3"/>
            <c:bubble3D val="0"/>
            <c:spPr>
              <a:solidFill>
                <a:srgbClr val="1A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34C-485B-8AB2-1CB4EC70CE9D}"/>
              </c:ext>
            </c:extLst>
          </c:dPt>
          <c:dPt>
            <c:idx val="4"/>
            <c:bubble3D val="0"/>
            <c:spPr>
              <a:solidFill>
                <a:srgbClr val="84B59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34C-485B-8AB2-1CB4EC70CE9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4C-485B-8AB2-1CB4EC70CE9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34C-485B-8AB2-1CB4EC70CE9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4C-485B-8AB2-1CB4EC70CE9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34C-485B-8AB2-1CB4EC70CE9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ru-RU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34C-485B-8AB2-1CB4EC70CE9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UI Components</c:v>
                </c:pt>
                <c:pt idx="1">
                  <c:v>State Management</c:v>
                </c:pt>
                <c:pt idx="2">
                  <c:v>API Integration</c:v>
                </c:pt>
                <c:pt idx="3">
                  <c:v>Testing</c:v>
                </c:pt>
                <c:pt idx="4">
                  <c:v>Optimization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20</c:v>
                </c:pt>
                <c:pt idx="2">
                  <c:v>25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34C-485B-8AB2-1CB4EC70CE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2362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Київський національний університет будівництва і архітектури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301752"/>
            <a:ext cx="91440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ECDE8"/>
                </a:solidFill>
              </a:rPr>
              <a:t>Кафедра Інформаційних технологій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64008" cy="237744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49808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</a:rPr>
              <a:t>Розробка веб-сервісу медіа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A3A5C"/>
                </a:solidFill>
              </a:rPr>
              <a:t>контенту на фреймворку React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492240" y="822960"/>
            <a:ext cx="2103120" cy="2103120"/>
          </a:xfrm>
          <a:prstGeom prst="ellipse">
            <a:avLst/>
          </a:prstGeom>
          <a:solidFill>
            <a:srgbClr val="D6E8F7"/>
          </a:solidFill>
          <a:ln w="12700">
            <a:solidFill>
              <a:srgbClr val="D6E8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12280" y="1143000"/>
            <a:ext cx="1463040" cy="1463040"/>
          </a:xfrm>
          <a:prstGeom prst="ellipse">
            <a:avLst/>
          </a:prstGeom>
          <a:solidFill>
            <a:srgbClr val="2E6DA4">
              <a:alpha val="80000"/>
            </a:srgbClr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48132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React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8229600" cy="274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64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</a:rPr>
              <a:t>Виконав: здобувач 2 рівня вищої освіти  Азімов Расул Ельшанович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75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Наукові керівники: </a:t>
            </a:r>
            <a:r>
              <a:rPr lang="en-US" sz="1000" dirty="0">
                <a:solidFill>
                  <a:srgbClr val="2C3E50"/>
                </a:solidFill>
              </a:rPr>
              <a:t>Науменко Ю.О.,  д.т.н., професор, завідувач кафедри ІТ  |  Гончаренко Т.А.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Мета кваліфікаційної роботи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5303520" cy="219456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14300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Розробка архітектури та програмна реалізація веб-сервісу для управління та відтворення </a:t>
            </a:r>
            <a:r>
              <a:rPr lang="uk-UA" sz="1400" dirty="0" err="1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медіаконтенту</a:t>
            </a:r>
            <a:r>
              <a:rPr lang="uk-UA" sz="14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, що забезпечує користувачам зручний доступ до мультимедійних файлів, високу швидкість взаємодії та адаптивність під різні типи пристроїв. 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26480" y="777240"/>
            <a:ext cx="2560320" cy="3383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1280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🎯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1264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Мета роботи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6517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8F7"/>
                </a:solidFill>
              </a:rPr>
              <a:t>Веб-сервіс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8F7"/>
                </a:solidFill>
              </a:rPr>
              <a:t>медіа контенту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8F7"/>
                </a:solidFill>
              </a:rPr>
              <a:t>на React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2000" b="1" dirty="0" err="1">
                <a:solidFill>
                  <a:srgbClr val="FFFFFF"/>
                </a:solidFill>
              </a:rPr>
              <a:t>Методи</a:t>
            </a:r>
            <a:r>
              <a:rPr lang="ru-RU" sz="2000" b="1" dirty="0">
                <a:solidFill>
                  <a:srgbClr val="FFFFFF"/>
                </a:solidFill>
              </a:rPr>
              <a:t> </a:t>
            </a:r>
            <a:r>
              <a:rPr lang="ru-RU" sz="2000" b="1" dirty="0" err="1">
                <a:solidFill>
                  <a:srgbClr val="FFFFFF"/>
                </a:solidFill>
              </a:rPr>
              <a:t>дослідження</a:t>
            </a:r>
            <a:r>
              <a:rPr lang="ru-RU" sz="2000" b="1" dirty="0">
                <a:solidFill>
                  <a:srgbClr val="FFFFFF"/>
                </a:solidFill>
              </a:rPr>
              <a:t>. 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841248"/>
            <a:ext cx="201168" cy="201168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78638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2C3E50"/>
                </a:solidFill>
              </a:rPr>
              <a:t>провести </a:t>
            </a:r>
            <a:r>
              <a:rPr lang="ru-RU" sz="1000" dirty="0" err="1">
                <a:solidFill>
                  <a:srgbClr val="2C3E50"/>
                </a:solidFill>
              </a:rPr>
              <a:t>порівняльний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аналіз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сучасних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технологій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розробки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медіа</a:t>
            </a:r>
            <a:r>
              <a:rPr lang="ru-RU" sz="1000" dirty="0">
                <a:solidFill>
                  <a:srgbClr val="2C3E50"/>
                </a:solidFill>
              </a:rPr>
              <a:t>- платформ; 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" y="2432304"/>
            <a:ext cx="201168" cy="201168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2221992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 err="1">
                <a:solidFill>
                  <a:srgbClr val="2C3E50"/>
                </a:solidFill>
              </a:rPr>
              <a:t>обґрунтувати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вибір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технологічного</a:t>
            </a:r>
            <a:r>
              <a:rPr lang="ru-RU" sz="1000" dirty="0">
                <a:solidFill>
                  <a:srgbClr val="2C3E50"/>
                </a:solidFill>
              </a:rPr>
              <a:t> стеку (</a:t>
            </a:r>
            <a:r>
              <a:rPr lang="en-US" sz="1000" dirty="0">
                <a:solidFill>
                  <a:srgbClr val="2C3E50"/>
                </a:solidFill>
              </a:rPr>
              <a:t>React 19, Node.js, Express 5, MongoDB) </a:t>
            </a:r>
            <a:r>
              <a:rPr lang="ru-RU" sz="1000" dirty="0">
                <a:solidFill>
                  <a:srgbClr val="2C3E50"/>
                </a:solidFill>
              </a:rPr>
              <a:t>та </a:t>
            </a:r>
            <a:r>
              <a:rPr lang="ru-RU" sz="1000" dirty="0" err="1">
                <a:solidFill>
                  <a:srgbClr val="2C3E50"/>
                </a:solidFill>
              </a:rPr>
              <a:t>супутніх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інструментів</a:t>
            </a:r>
            <a:r>
              <a:rPr lang="ru-RU" sz="1000" dirty="0">
                <a:solidFill>
                  <a:srgbClr val="2C3E50"/>
                </a:solidFill>
              </a:rPr>
              <a:t> (</a:t>
            </a:r>
            <a:r>
              <a:rPr lang="en-US" sz="1000" dirty="0">
                <a:solidFill>
                  <a:srgbClr val="2C3E50"/>
                </a:solidFill>
              </a:rPr>
              <a:t>Context API, React Router DOM, Tailwind CSS);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3907536"/>
            <a:ext cx="201168" cy="201168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9" name="Text 7"/>
          <p:cNvSpPr/>
          <p:nvPr/>
        </p:nvSpPr>
        <p:spPr>
          <a:xfrm>
            <a:off x="530352" y="369722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 err="1">
                <a:solidFill>
                  <a:srgbClr val="2C3E50"/>
                </a:solidFill>
              </a:rPr>
              <a:t>спроектувати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архітектуру</a:t>
            </a:r>
            <a:r>
              <a:rPr lang="ru-RU" sz="1000" dirty="0">
                <a:solidFill>
                  <a:srgbClr val="2C3E50"/>
                </a:solidFill>
              </a:rPr>
              <a:t> веб-</a:t>
            </a:r>
            <a:r>
              <a:rPr lang="ru-RU" sz="1000" dirty="0" err="1">
                <a:solidFill>
                  <a:srgbClr val="2C3E50"/>
                </a:solidFill>
              </a:rPr>
              <a:t>сервісу</a:t>
            </a:r>
            <a:r>
              <a:rPr lang="ru-RU" sz="1000" dirty="0">
                <a:solidFill>
                  <a:srgbClr val="2C3E50"/>
                </a:solidFill>
              </a:rPr>
              <a:t> та структуру </a:t>
            </a:r>
            <a:r>
              <a:rPr lang="ru-RU" sz="1000" dirty="0" err="1">
                <a:solidFill>
                  <a:srgbClr val="2C3E50"/>
                </a:solidFill>
              </a:rPr>
              <a:t>бази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даних</a:t>
            </a:r>
            <a:r>
              <a:rPr lang="ru-RU" sz="1000" dirty="0">
                <a:solidFill>
                  <a:srgbClr val="2C3E50"/>
                </a:solidFill>
              </a:rPr>
              <a:t> для </a:t>
            </a:r>
            <a:r>
              <a:rPr lang="ru-RU" sz="1000" dirty="0" err="1">
                <a:solidFill>
                  <a:srgbClr val="2C3E50"/>
                </a:solidFill>
              </a:rPr>
              <a:t>зберігання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користувацьких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даних</a:t>
            </a:r>
            <a:r>
              <a:rPr lang="ru-RU" sz="1000" dirty="0">
                <a:solidFill>
                  <a:srgbClr val="2C3E50"/>
                </a:solidFill>
              </a:rPr>
              <a:t> і </a:t>
            </a:r>
            <a:r>
              <a:rPr lang="ru-RU" sz="1000" dirty="0" err="1">
                <a:solidFill>
                  <a:srgbClr val="2C3E50"/>
                </a:solidFill>
              </a:rPr>
              <a:t>метаданих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медіафайлів</a:t>
            </a:r>
            <a:r>
              <a:rPr lang="ru-RU" sz="1000" dirty="0">
                <a:solidFill>
                  <a:srgbClr val="2C3E50"/>
                </a:solidFill>
              </a:rPr>
              <a:t>; 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36592" y="841248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0912" y="78638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 err="1">
                <a:solidFill>
                  <a:srgbClr val="2C3E50"/>
                </a:solidFill>
              </a:rPr>
              <a:t>реалізувати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функціональні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модулі</a:t>
            </a:r>
            <a:r>
              <a:rPr lang="ru-RU" sz="1000" dirty="0">
                <a:solidFill>
                  <a:srgbClr val="2C3E50"/>
                </a:solidFill>
              </a:rPr>
              <a:t>: </a:t>
            </a:r>
            <a:r>
              <a:rPr lang="ru-RU" sz="1000" dirty="0" err="1">
                <a:solidFill>
                  <a:srgbClr val="2C3E50"/>
                </a:solidFill>
              </a:rPr>
              <a:t>аудіоплеєр</a:t>
            </a:r>
            <a:r>
              <a:rPr lang="ru-RU" sz="1000" dirty="0">
                <a:solidFill>
                  <a:srgbClr val="2C3E50"/>
                </a:solidFill>
              </a:rPr>
              <a:t>, систему </a:t>
            </a:r>
            <a:r>
              <a:rPr lang="ru-RU" sz="1000" dirty="0" err="1">
                <a:solidFill>
                  <a:srgbClr val="2C3E50"/>
                </a:solidFill>
              </a:rPr>
              <a:t>пошуку</a:t>
            </a:r>
            <a:r>
              <a:rPr lang="ru-RU" sz="1000" dirty="0">
                <a:solidFill>
                  <a:srgbClr val="2C3E50"/>
                </a:solidFill>
              </a:rPr>
              <a:t>, </a:t>
            </a:r>
            <a:r>
              <a:rPr lang="ru-RU" sz="1000" dirty="0" err="1">
                <a:solidFill>
                  <a:srgbClr val="2C3E50"/>
                </a:solidFill>
              </a:rPr>
              <a:t>бібліотеку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користувача</a:t>
            </a:r>
            <a:r>
              <a:rPr lang="ru-RU" sz="1000" dirty="0">
                <a:solidFill>
                  <a:srgbClr val="2C3E50"/>
                </a:solidFill>
              </a:rPr>
              <a:t>, систему </a:t>
            </a:r>
            <a:r>
              <a:rPr lang="ru-RU" sz="1000" dirty="0" err="1">
                <a:solidFill>
                  <a:srgbClr val="2C3E50"/>
                </a:solidFill>
              </a:rPr>
              <a:t>рекомендацій</a:t>
            </a:r>
            <a:r>
              <a:rPr lang="ru-RU" sz="1000" dirty="0">
                <a:solidFill>
                  <a:srgbClr val="2C3E50"/>
                </a:solidFill>
              </a:rPr>
              <a:t> та </a:t>
            </a:r>
            <a:r>
              <a:rPr lang="ru-RU" sz="1000" dirty="0" err="1">
                <a:solidFill>
                  <a:srgbClr val="2C3E50"/>
                </a:solidFill>
              </a:rPr>
              <a:t>завантаження</a:t>
            </a:r>
            <a:r>
              <a:rPr lang="ru-RU" sz="1000" dirty="0">
                <a:solidFill>
                  <a:srgbClr val="2C3E50"/>
                </a:solidFill>
              </a:rPr>
              <a:t> контенту; 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36592" y="2437130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2227834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 err="1">
                <a:solidFill>
                  <a:srgbClr val="2C3E50"/>
                </a:solidFill>
              </a:rPr>
              <a:t>забезпечити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адаптивність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інтерфейсу</a:t>
            </a:r>
            <a:r>
              <a:rPr lang="ru-RU" sz="1000" dirty="0">
                <a:solidFill>
                  <a:srgbClr val="2C3E50"/>
                </a:solidFill>
              </a:rPr>
              <a:t> для </a:t>
            </a:r>
            <a:r>
              <a:rPr lang="ru-RU" sz="1000" dirty="0" err="1">
                <a:solidFill>
                  <a:srgbClr val="2C3E50"/>
                </a:solidFill>
              </a:rPr>
              <a:t>коректного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відображення</a:t>
            </a:r>
            <a:r>
              <a:rPr lang="ru-RU" sz="1000" dirty="0">
                <a:solidFill>
                  <a:srgbClr val="2C3E50"/>
                </a:solidFill>
              </a:rPr>
              <a:t> на </a:t>
            </a:r>
            <a:r>
              <a:rPr lang="ru-RU" sz="1000" dirty="0" err="1">
                <a:solidFill>
                  <a:srgbClr val="2C3E50"/>
                </a:solidFill>
              </a:rPr>
              <a:t>мобільних</a:t>
            </a:r>
            <a:r>
              <a:rPr lang="ru-RU" sz="1000" dirty="0">
                <a:solidFill>
                  <a:srgbClr val="2C3E50"/>
                </a:solidFill>
              </a:rPr>
              <a:t> та </a:t>
            </a:r>
            <a:r>
              <a:rPr lang="ru-RU" sz="1000" dirty="0" err="1">
                <a:solidFill>
                  <a:srgbClr val="2C3E50"/>
                </a:solidFill>
              </a:rPr>
              <a:t>десктопних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пристроях</a:t>
            </a:r>
            <a:r>
              <a:rPr lang="ru-RU" sz="1000" dirty="0">
                <a:solidFill>
                  <a:srgbClr val="2C3E50"/>
                </a:solidFill>
              </a:rPr>
              <a:t>; 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5068" y="3907536"/>
            <a:ext cx="201168" cy="20116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3488690"/>
            <a:ext cx="3931920" cy="10876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000" dirty="0">
                <a:solidFill>
                  <a:srgbClr val="2C3E50"/>
                </a:solidFill>
              </a:rPr>
              <a:t>провести </a:t>
            </a:r>
            <a:r>
              <a:rPr lang="ru-RU" sz="1000" dirty="0" err="1">
                <a:solidFill>
                  <a:srgbClr val="2C3E50"/>
                </a:solidFill>
              </a:rPr>
              <a:t>інтеграцію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із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зовнішніми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сервісами</a:t>
            </a:r>
            <a:r>
              <a:rPr lang="ru-RU" sz="1000" dirty="0">
                <a:solidFill>
                  <a:srgbClr val="2C3E50"/>
                </a:solidFill>
              </a:rPr>
              <a:t> (</a:t>
            </a:r>
            <a:r>
              <a:rPr lang="en-US" sz="1000" dirty="0" err="1">
                <a:solidFill>
                  <a:srgbClr val="2C3E50"/>
                </a:solidFill>
              </a:rPr>
              <a:t>Jamendo</a:t>
            </a:r>
            <a:r>
              <a:rPr lang="en-US" sz="1000" dirty="0">
                <a:solidFill>
                  <a:srgbClr val="2C3E50"/>
                </a:solidFill>
              </a:rPr>
              <a:t> API, </a:t>
            </a:r>
            <a:r>
              <a:rPr lang="en-US" sz="1000" dirty="0" err="1">
                <a:solidFill>
                  <a:srgbClr val="2C3E50"/>
                </a:solidFill>
              </a:rPr>
              <a:t>Cloudinary</a:t>
            </a:r>
            <a:r>
              <a:rPr lang="en-US" sz="1000" dirty="0">
                <a:solidFill>
                  <a:srgbClr val="2C3E50"/>
                </a:solidFill>
              </a:rPr>
              <a:t>) </a:t>
            </a:r>
            <a:r>
              <a:rPr lang="ru-RU" sz="1000" dirty="0">
                <a:solidFill>
                  <a:srgbClr val="2C3E50"/>
                </a:solidFill>
              </a:rPr>
              <a:t>та </a:t>
            </a:r>
            <a:r>
              <a:rPr lang="ru-RU" sz="1000" dirty="0" err="1">
                <a:solidFill>
                  <a:srgbClr val="2C3E50"/>
                </a:solidFill>
              </a:rPr>
              <a:t>тестування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розробленого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сервісу</a:t>
            </a:r>
            <a:r>
              <a:rPr lang="ru-RU" sz="1000" dirty="0">
                <a:solidFill>
                  <a:srgbClr val="2C3E50"/>
                </a:solidFill>
              </a:rPr>
              <a:t>. </a:t>
            </a:r>
            <a:r>
              <a:rPr lang="ru-RU" sz="1000" dirty="0" err="1">
                <a:solidFill>
                  <a:srgbClr val="2C3E50"/>
                </a:solidFill>
              </a:rPr>
              <a:t>Практичне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значення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отриманих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результатів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полягає</a:t>
            </a:r>
            <a:r>
              <a:rPr lang="ru-RU" sz="1000" dirty="0">
                <a:solidFill>
                  <a:srgbClr val="2C3E50"/>
                </a:solidFill>
              </a:rPr>
              <a:t> у </a:t>
            </a:r>
            <a:r>
              <a:rPr lang="ru-RU" sz="1000" dirty="0" err="1">
                <a:solidFill>
                  <a:srgbClr val="2C3E50"/>
                </a:solidFill>
              </a:rPr>
              <a:t>створенні</a:t>
            </a:r>
            <a:r>
              <a:rPr lang="ru-RU" sz="1000" dirty="0">
                <a:solidFill>
                  <a:srgbClr val="2C3E50"/>
                </a:solidFill>
              </a:rPr>
              <a:t> готового до </a:t>
            </a:r>
            <a:r>
              <a:rPr lang="ru-RU" sz="1000" dirty="0" err="1">
                <a:solidFill>
                  <a:srgbClr val="2C3E50"/>
                </a:solidFill>
              </a:rPr>
              <a:t>експлуатації</a:t>
            </a:r>
            <a:r>
              <a:rPr lang="ru-RU" sz="1000" dirty="0">
                <a:solidFill>
                  <a:srgbClr val="2C3E50"/>
                </a:solidFill>
              </a:rPr>
              <a:t> веб-</a:t>
            </a:r>
            <a:r>
              <a:rPr lang="ru-RU" sz="1000" dirty="0" err="1">
                <a:solidFill>
                  <a:srgbClr val="2C3E50"/>
                </a:solidFill>
              </a:rPr>
              <a:t>додатка</a:t>
            </a:r>
            <a:r>
              <a:rPr lang="ru-RU" sz="1000" dirty="0">
                <a:solidFill>
                  <a:srgbClr val="2C3E50"/>
                </a:solidFill>
              </a:rPr>
              <a:t>, </a:t>
            </a:r>
            <a:r>
              <a:rPr lang="ru-RU" sz="1000" dirty="0" err="1">
                <a:solidFill>
                  <a:srgbClr val="2C3E50"/>
                </a:solidFill>
              </a:rPr>
              <a:t>який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може</a:t>
            </a:r>
            <a:r>
              <a:rPr lang="ru-RU" sz="1000" dirty="0">
                <a:solidFill>
                  <a:srgbClr val="2C3E50"/>
                </a:solidFill>
              </a:rPr>
              <a:t> бути </a:t>
            </a:r>
            <a:r>
              <a:rPr lang="ru-RU" sz="1000" dirty="0" err="1">
                <a:solidFill>
                  <a:srgbClr val="2C3E50"/>
                </a:solidFill>
              </a:rPr>
              <a:t>використаний</a:t>
            </a:r>
            <a:r>
              <a:rPr lang="ru-RU" sz="1000" dirty="0">
                <a:solidFill>
                  <a:srgbClr val="2C3E50"/>
                </a:solidFill>
              </a:rPr>
              <a:t> як база для </a:t>
            </a:r>
            <a:r>
              <a:rPr lang="ru-RU" sz="1000" dirty="0" err="1">
                <a:solidFill>
                  <a:srgbClr val="2C3E50"/>
                </a:solidFill>
              </a:rPr>
              <a:t>корпоративних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стрімінгових</a:t>
            </a:r>
            <a:r>
              <a:rPr lang="ru-RU" sz="1000" dirty="0">
                <a:solidFill>
                  <a:srgbClr val="2C3E50"/>
                </a:solidFill>
              </a:rPr>
              <a:t> платформ, </a:t>
            </a:r>
            <a:r>
              <a:rPr lang="ru-RU" sz="1000" dirty="0" err="1">
                <a:solidFill>
                  <a:srgbClr val="2C3E50"/>
                </a:solidFill>
              </a:rPr>
              <a:t>музичних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сервісів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або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приватних</a:t>
            </a:r>
            <a:r>
              <a:rPr lang="ru-RU" sz="1000" dirty="0">
                <a:solidFill>
                  <a:srgbClr val="2C3E50"/>
                </a:solidFill>
              </a:rPr>
              <a:t> </a:t>
            </a:r>
            <a:r>
              <a:rPr lang="ru-RU" sz="1000" dirty="0" err="1">
                <a:solidFill>
                  <a:srgbClr val="2C3E50"/>
                </a:solidFill>
              </a:rPr>
              <a:t>медіаархівів</a:t>
            </a:r>
            <a:r>
              <a:rPr lang="ru-RU" sz="1000" dirty="0">
                <a:solidFill>
                  <a:srgbClr val="2C3E50"/>
                </a:solidFill>
              </a:rPr>
              <a:t>. 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Об'єкт та предмет дослідження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47472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Об'єкт дослідження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200" dirty="0" err="1">
                <a:solidFill>
                  <a:srgbClr val="2C3E50"/>
                </a:solidFill>
              </a:rPr>
              <a:t>Процес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розробки</a:t>
            </a:r>
            <a:r>
              <a:rPr lang="ru-RU" sz="1200" dirty="0">
                <a:solidFill>
                  <a:srgbClr val="2C3E50"/>
                </a:solidFill>
              </a:rPr>
              <a:t> та </a:t>
            </a:r>
            <a:r>
              <a:rPr lang="ru-RU" sz="1200" dirty="0" err="1">
                <a:solidFill>
                  <a:srgbClr val="2C3E50"/>
                </a:solidFill>
              </a:rPr>
              <a:t>функціонування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сучасних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інформаційних</a:t>
            </a:r>
            <a:r>
              <a:rPr lang="ru-RU" sz="1200" dirty="0">
                <a:solidFill>
                  <a:srgbClr val="2C3E50"/>
                </a:solidFill>
              </a:rPr>
              <a:t> систем </a:t>
            </a:r>
            <a:r>
              <a:rPr lang="ru-RU" sz="1200" dirty="0" err="1">
                <a:solidFill>
                  <a:srgbClr val="2C3E50"/>
                </a:solidFill>
              </a:rPr>
              <a:t>розповсюдження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мультимедійного</a:t>
            </a:r>
            <a:r>
              <a:rPr lang="ru-RU" sz="1200" dirty="0">
                <a:solidFill>
                  <a:srgbClr val="2C3E50"/>
                </a:solidFill>
              </a:rPr>
              <a:t> контенту. 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840480" cy="3474720"/>
          </a:xfrm>
          <a:prstGeom prst="rect">
            <a:avLst/>
          </a:prstGeom>
          <a:solidFill>
            <a:srgbClr val="FEF9E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914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Предмет дослідження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146304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ru-RU" sz="1200" dirty="0" err="1">
                <a:solidFill>
                  <a:srgbClr val="2C3E50"/>
                </a:solidFill>
              </a:rPr>
              <a:t>Моделі</a:t>
            </a:r>
            <a:r>
              <a:rPr lang="ru-RU" sz="1200" dirty="0">
                <a:solidFill>
                  <a:srgbClr val="2C3E50"/>
                </a:solidFill>
              </a:rPr>
              <a:t>, </a:t>
            </a:r>
            <a:r>
              <a:rPr lang="ru-RU" sz="1200" dirty="0" err="1">
                <a:solidFill>
                  <a:srgbClr val="2C3E50"/>
                </a:solidFill>
              </a:rPr>
              <a:t>методи</a:t>
            </a:r>
            <a:r>
              <a:rPr lang="ru-RU" sz="1200" dirty="0">
                <a:solidFill>
                  <a:srgbClr val="2C3E50"/>
                </a:solidFill>
              </a:rPr>
              <a:t> та </a:t>
            </a:r>
            <a:r>
              <a:rPr lang="ru-RU" sz="1200" dirty="0" err="1">
                <a:solidFill>
                  <a:srgbClr val="2C3E50"/>
                </a:solidFill>
              </a:rPr>
              <a:t>програмні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засоби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створення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клієнтської</a:t>
            </a:r>
            <a:r>
              <a:rPr lang="ru-RU" sz="1200" dirty="0">
                <a:solidFill>
                  <a:srgbClr val="2C3E50"/>
                </a:solidFill>
              </a:rPr>
              <a:t> та </a:t>
            </a:r>
            <a:r>
              <a:rPr lang="ru-RU" sz="1200" dirty="0" err="1">
                <a:solidFill>
                  <a:srgbClr val="2C3E50"/>
                </a:solidFill>
              </a:rPr>
              <a:t>серверної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частин</a:t>
            </a:r>
            <a:r>
              <a:rPr lang="ru-RU" sz="1200" dirty="0">
                <a:solidFill>
                  <a:srgbClr val="2C3E50"/>
                </a:solidFill>
              </a:rPr>
              <a:t> веб-</a:t>
            </a:r>
            <a:r>
              <a:rPr lang="ru-RU" sz="1200" dirty="0" err="1">
                <a:solidFill>
                  <a:srgbClr val="2C3E50"/>
                </a:solidFill>
              </a:rPr>
              <a:t>сервісу</a:t>
            </a:r>
            <a:r>
              <a:rPr lang="ru-RU" sz="1200" dirty="0">
                <a:solidFill>
                  <a:srgbClr val="2C3E50"/>
                </a:solidFill>
              </a:rPr>
              <a:t> на </a:t>
            </a:r>
            <a:r>
              <a:rPr lang="ru-RU" sz="1200" dirty="0" err="1">
                <a:solidFill>
                  <a:srgbClr val="2C3E50"/>
                </a:solidFill>
              </a:rPr>
              <a:t>основі</a:t>
            </a:r>
            <a:r>
              <a:rPr lang="ru-RU" sz="1200" dirty="0">
                <a:solidFill>
                  <a:srgbClr val="2C3E50"/>
                </a:solidFill>
              </a:rPr>
              <a:t> стеку </a:t>
            </a:r>
            <a:r>
              <a:rPr lang="en-US" sz="1200" dirty="0">
                <a:solidFill>
                  <a:srgbClr val="2C3E50"/>
                </a:solidFill>
              </a:rPr>
              <a:t>MERN (MongoDB, Express, React, Node.js) </a:t>
            </a:r>
            <a:r>
              <a:rPr lang="ru-RU" sz="1200" dirty="0">
                <a:solidFill>
                  <a:srgbClr val="2C3E50"/>
                </a:solidFill>
              </a:rPr>
              <a:t>для </a:t>
            </a:r>
            <a:r>
              <a:rPr lang="ru-RU" sz="1200" dirty="0" err="1">
                <a:solidFill>
                  <a:srgbClr val="2C3E50"/>
                </a:solidFill>
              </a:rPr>
              <a:t>обробки</a:t>
            </a:r>
            <a:r>
              <a:rPr lang="ru-RU" sz="1200" dirty="0">
                <a:solidFill>
                  <a:srgbClr val="2C3E50"/>
                </a:solidFill>
              </a:rPr>
              <a:t> та </a:t>
            </a:r>
            <a:r>
              <a:rPr lang="ru-RU" sz="1200" dirty="0" err="1">
                <a:solidFill>
                  <a:srgbClr val="2C3E50"/>
                </a:solidFill>
              </a:rPr>
              <a:t>відтворення</a:t>
            </a:r>
            <a:r>
              <a:rPr lang="ru-RU" sz="1200" dirty="0">
                <a:solidFill>
                  <a:srgbClr val="2C3E50"/>
                </a:solidFill>
              </a:rPr>
              <a:t> </a:t>
            </a:r>
            <a:r>
              <a:rPr lang="ru-RU" sz="1200" dirty="0" err="1">
                <a:solidFill>
                  <a:srgbClr val="2C3E50"/>
                </a:solidFill>
              </a:rPr>
              <a:t>медіаданих</a:t>
            </a:r>
            <a:r>
              <a:rPr lang="ru-RU" sz="1200" dirty="0">
                <a:solidFill>
                  <a:srgbClr val="2C3E50"/>
                </a:solidFill>
              </a:rPr>
              <a:t>.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Актуальність дослідження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303520" y="822960"/>
            <a:ext cx="3474720" cy="3657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0" y="10058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30352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🎬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303520" y="28346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💻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303520" y="37490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Медіа-стрімінг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6E8F7"/>
                </a:solidFill>
              </a:rPr>
              <a:t>у сучасному світі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804672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Актуальність даного дослідження </a:t>
            </a:r>
            <a:r>
              <a:rPr lang="en-US" sz="1200" dirty="0">
                <a:solidFill>
                  <a:srgbClr val="2C3E50"/>
                </a:solidFill>
              </a:rPr>
              <a:t>обумовлена стрімким зростанням споживання медіа-контенту в мережі Інтернет, збільшенням кількості стрімінгових платформ та попитом на зручні, швидкі й адаптивні веб-сервіси.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З огляду на популярність React як провідного інструменту для побудови SPA, існує потреба у дослідженні ефективних підходів до проектування медіа-сервісів: оптимізації завантаження контенту, управління станом та забезпечення плавного відтворення.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Наукова новизна роботи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0" y="777240"/>
            <a:ext cx="3291840" cy="374904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10972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⚛️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0" y="2286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React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3A5C"/>
                </a:solidFill>
              </a:rPr>
              <a:t>SPA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3017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Компонентна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архітектура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</a:rPr>
              <a:t>медіа-сервісу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8229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Наукова новизна роботи полягає у розробці веб-сервісу медіа контенту на основі React, що поєднує реальні технології та підходи, використані у проєкті: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182880" cy="18288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5564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компонентну архітектуру на основі React 19, React Router DOM та Tailwind CSS;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182880" cy="18288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22576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керування станом плеєра, рекомендаціями та треками через Context API і хуки React;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182880" cy="18288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89504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адаптивний аудіоплеєр з керуванням відтворенням, гучністю, перемотуванням, shuffle та loop;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511296"/>
            <a:ext cx="182880" cy="182880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56432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ручне кешування даних, посторінкове завантаження Jamendo та інтеграцію з Cloudinary і jsmediatags.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Практичне значення роботи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200400" cy="35661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🌐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Веб-сервіс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медіа контенту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926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ECDE8"/>
                </a:solidFill>
              </a:rPr>
              <a:t>React • REST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ECDE8"/>
                </a:solidFill>
              </a:rPr>
              <a:t>Responsive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49040" y="8229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Практичне значення роботи </a:t>
            </a:r>
            <a:r>
              <a:rPr lang="en-US" sz="1200" dirty="0">
                <a:solidFill>
                  <a:srgbClr val="2C3E50"/>
                </a:solidFill>
              </a:rPr>
              <a:t>полягає в можливості безпосереднього використання розробленого веб-сервісу медіа контенту в освітніх установах, розважальних платформах та корпоративних системах.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49040" y="2331720"/>
            <a:ext cx="5120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Запропоновані підходи до побудови компонентної архітектури можуть бути використані як шаблон для розробки інших React-застосунків з медіа-функціоналом. Розроблений сервіс може бути інтегрований з популярними CDN та хмарними сховищами.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Архітектура веб-сервісу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749040" cy="3931920"/>
          </a:xfrm>
          <a:prstGeom prst="rect">
            <a:avLst/>
          </a:prstGeom>
          <a:solidFill>
            <a:srgbClr val="D6E8F7"/>
          </a:solidFill>
          <a:ln w="1905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3749040" cy="4114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КЛІЄНТ (React SPA)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344168"/>
            <a:ext cx="3291840" cy="393192"/>
          </a:xfrm>
          <a:prstGeom prst="rect">
            <a:avLst/>
          </a:prstGeom>
          <a:solidFill>
            <a:srgbClr val="DAEAF9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</a:rPr>
              <a:t>UI Компоненти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856232"/>
            <a:ext cx="3291840" cy="393192"/>
          </a:xfrm>
          <a:prstGeom prst="rect">
            <a:avLst/>
          </a:prstGeom>
          <a:solidFill>
            <a:srgbClr val="C5DCEF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56232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</a:rPr>
              <a:t>React Router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68296"/>
            <a:ext cx="3291840" cy="393192"/>
          </a:xfrm>
          <a:prstGeom prst="rect">
            <a:avLst/>
          </a:prstGeom>
          <a:solidFill>
            <a:srgbClr val="DAEAF9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68296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</a:rPr>
              <a:t>Context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3291840" cy="393192"/>
          </a:xfrm>
          <a:prstGeom prst="rect">
            <a:avLst/>
          </a:prstGeom>
          <a:solidFill>
            <a:srgbClr val="C5DCEF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80360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</a:rPr>
              <a:t>Audio Player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392424"/>
            <a:ext cx="3291840" cy="393192"/>
          </a:xfrm>
          <a:prstGeom prst="rect">
            <a:avLst/>
          </a:prstGeom>
          <a:solidFill>
            <a:srgbClr val="DAEAF9"/>
          </a:solidFill>
          <a:ln w="635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92424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5C"/>
                </a:solidFill>
              </a:rPr>
              <a:t>Fetch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2606040"/>
            <a:ext cx="82296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</a:rPr>
              <a:t>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</a:rPr>
              <a:t>HTTPS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120640" y="822960"/>
            <a:ext cx="3749040" cy="3931920"/>
          </a:xfrm>
          <a:prstGeom prst="rect">
            <a:avLst/>
          </a:prstGeom>
          <a:solidFill>
            <a:srgbClr val="FEF9E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822960"/>
            <a:ext cx="374904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СЕРВЕР (Node.js / REST API)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9240" y="1344168"/>
            <a:ext cx="3291840" cy="393192"/>
          </a:xfrm>
          <a:prstGeom prst="rect">
            <a:avLst/>
          </a:prstGeom>
          <a:solidFill>
            <a:srgbClr val="FEF0D8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344168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API Gateway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1856232"/>
            <a:ext cx="3291840" cy="393192"/>
          </a:xfrm>
          <a:prstGeom prst="rect">
            <a:avLst/>
          </a:prstGeom>
          <a:solidFill>
            <a:srgbClr val="FDE5C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856232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Auth Service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49240" y="2368296"/>
            <a:ext cx="3291840" cy="393192"/>
          </a:xfrm>
          <a:prstGeom prst="rect">
            <a:avLst/>
          </a:prstGeom>
          <a:solidFill>
            <a:srgbClr val="FEF0D8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368296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Songs / Recs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49240" y="2880360"/>
            <a:ext cx="3291840" cy="393192"/>
          </a:xfrm>
          <a:prstGeom prst="rect">
            <a:avLst/>
          </a:prstGeom>
          <a:solidFill>
            <a:srgbClr val="FDE5C0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880360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Database (MongoDB)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49240" y="3392424"/>
            <a:ext cx="3291840" cy="393192"/>
          </a:xfrm>
          <a:prstGeom prst="rect">
            <a:avLst/>
          </a:prstGeom>
          <a:solidFill>
            <a:srgbClr val="FEF0D8"/>
          </a:solidFill>
          <a:ln w="635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392424"/>
            <a:ext cx="32918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Cloudinary / Jamendo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Рисунок 1. Архітектура веб-сервісу медіа контенту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Компонентна архітектура React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0" y="914400"/>
            <a:ext cx="219456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914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46304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Sidebar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1828800"/>
            <a:ext cx="146304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Display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828800"/>
            <a:ext cx="146304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DisplayHome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828800"/>
            <a:ext cx="146304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Search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89520" y="1828800"/>
            <a:ext cx="1463040" cy="4572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828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Navbar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834640"/>
            <a:ext cx="1463040" cy="45720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Player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834640"/>
            <a:ext cx="1463040" cy="45720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Playlists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834640"/>
            <a:ext cx="1463040" cy="45720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834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Library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React Context: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7360" y="3657600"/>
            <a:ext cx="1554480" cy="365760"/>
          </a:xfrm>
          <a:prstGeom prst="roundRect">
            <a:avLst/>
          </a:prstGeom>
          <a:solidFill>
            <a:srgbClr val="E8F4FD"/>
          </a:solidFill>
          <a:ln w="1016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PlayerContext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3657600"/>
            <a:ext cx="1554480" cy="365760"/>
          </a:xfrm>
          <a:prstGeom prst="roundRect">
            <a:avLst/>
          </a:prstGeom>
          <a:solidFill>
            <a:srgbClr val="E8F4FD"/>
          </a:solidFill>
          <a:ln w="10160">
            <a:solidFill>
              <a:srgbClr val="2E6DA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useContext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94960" y="3657600"/>
            <a:ext cx="1554480" cy="365760"/>
          </a:xfrm>
          <a:prstGeom prst="roundRect">
            <a:avLst/>
          </a:prstGeom>
          <a:solidFill>
            <a:srgbClr val="E8F4FD"/>
          </a:solidFill>
          <a:ln w="10160">
            <a:solidFill>
              <a:srgbClr val="2E6D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useState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23760" y="3657600"/>
            <a:ext cx="1554480" cy="365760"/>
          </a:xfrm>
          <a:prstGeom prst="roundRect">
            <a:avLst/>
          </a:prstGeom>
          <a:solidFill>
            <a:srgbClr val="E8F4FD"/>
          </a:solidFill>
          <a:ln w="10160">
            <a:solidFill>
              <a:srgbClr val="2E6D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0" y="3657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5C"/>
                </a:solidFill>
              </a:rPr>
              <a:t>useEffect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Рисунок 2. Компонентна структура React-застосунку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686800" y="4754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Управління станом застосунку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6DA4"/>
                </a:solidFill>
              </a:rPr>
              <a:t>Використання Context API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1463040" cy="777240"/>
          </a:xfrm>
          <a:prstGeom prst="rect">
            <a:avLst/>
          </a:prstGeom>
          <a:solidFill>
            <a:srgbClr val="D6E8F7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9844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UI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Компонент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298448"/>
            <a:ext cx="1463040" cy="777240"/>
          </a:xfrm>
          <a:prstGeom prst="rect">
            <a:avLst/>
          </a:prstGeom>
          <a:solidFill>
            <a:srgbClr val="D4EDD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29844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5724"/>
                </a:solidFill>
              </a:rPr>
              <a:t>Context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55724"/>
                </a:solidFill>
              </a:rPr>
              <a:t>Provider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298448"/>
            <a:ext cx="1463040" cy="777240"/>
          </a:xfrm>
          <a:prstGeom prst="rect">
            <a:avLst/>
          </a:prstGeom>
          <a:solidFill>
            <a:srgbClr val="1A3A5C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29844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useContext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State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1298448"/>
            <a:ext cx="1463040" cy="777240"/>
          </a:xfrm>
          <a:prstGeom prst="rect">
            <a:avLst/>
          </a:prstGeom>
          <a:solidFill>
            <a:srgbClr val="FFF3CD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29844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56404"/>
                </a:solidFill>
              </a:rPr>
              <a:t>Effect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56404"/>
                </a:solidFill>
              </a:rPr>
              <a:t>Ref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0" y="1298448"/>
            <a:ext cx="1463040" cy="777240"/>
          </a:xfrm>
          <a:prstGeom prst="rect">
            <a:avLst/>
          </a:prstGeom>
          <a:solidFill>
            <a:srgbClr val="F8D7DA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1298448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21C24"/>
                </a:solidFill>
              </a:rPr>
              <a:t>Fetch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21C24"/>
                </a:solidFill>
              </a:rPr>
              <a:t>Events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56232" y="1664208"/>
            <a:ext cx="320040" cy="36576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76472" y="1664208"/>
            <a:ext cx="320040" cy="36576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96712" y="1664208"/>
            <a:ext cx="320040" cy="36576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16952" y="1664208"/>
            <a:ext cx="320040" cy="36576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1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Основні частини стану: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788920"/>
            <a:ext cx="8412480" cy="384048"/>
          </a:xfrm>
          <a:prstGeom prst="rect">
            <a:avLst/>
          </a:prstGeom>
          <a:solidFill>
            <a:srgbClr val="D6E8F7"/>
          </a:solidFill>
          <a:ln w="5080">
            <a:solidFill>
              <a:srgbClr val="2E6D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889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songsData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278892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Список локальних і Jamendo треків, кеш та посторінкове завантаження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46120"/>
            <a:ext cx="8412480" cy="384048"/>
          </a:xfrm>
          <a:prstGeom prst="rect">
            <a:avLst/>
          </a:prstGeom>
          <a:solidFill>
            <a:srgbClr val="E8F4FD"/>
          </a:solidFill>
          <a:ln w="5080">
            <a:solidFill>
              <a:srgbClr val="2E6D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461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playerState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324612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Поточний трек, час, гучність, shuffle, loop, play/pause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03320"/>
            <a:ext cx="8412480" cy="384048"/>
          </a:xfrm>
          <a:prstGeom prst="rect">
            <a:avLst/>
          </a:prstGeom>
          <a:solidFill>
            <a:srgbClr val="D6E8F7"/>
          </a:solidFill>
          <a:ln w="5080">
            <a:solidFill>
              <a:srgbClr val="2E6D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03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userData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370332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JWT токен, лайки, історія прослуховування та рекомендації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8412480" cy="384048"/>
          </a:xfrm>
          <a:prstGeom prst="rect">
            <a:avLst/>
          </a:prstGeom>
          <a:solidFill>
            <a:srgbClr val="E8F4FD"/>
          </a:solidFill>
          <a:ln w="5080">
            <a:solidFill>
              <a:srgbClr val="2E6DA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1605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uiState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31720" y="4160520"/>
            <a:ext cx="6309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Пошук, маршрутизація, повідомлення форм та збереження в localStorage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powerpoint/2010/main" xmlns:ns3="http://schemas.microsoft.com/office/drawing/2014/main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REST API та серверна інтеграція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Основні ендпоінти API: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365760" y="1161288"/>
          <a:ext cx="8412480" cy="274320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ns3:colId val="20000"/>
                    </a:ext>
                  </a:extLst>
                </a:gridCol>
                <a:gridCol w="2194560">
                  <a:extLst>
                    <a:ext uri="{9D8B030D-6E8A-4147-A177-3AD203B41FA5}">
                      <ns3:colId val="20001"/>
                    </a:ext>
                  </a:extLst>
                </a:gridCol>
                <a:gridCol w="5303520">
                  <a:extLst>
                    <a:ext uri="{9D8B030D-6E8A-4147-A177-3AD203B41FA5}">
                      <ns3:colId val="20002"/>
                    </a:ext>
                  </a:extLst>
                </a:gridCol>
              </a:tblGrid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Ендпоінт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7A1A"/>
                          </a:solidFill>
                        </a:rPr>
                        <a:t>POST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/api/register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Реєстрація користувача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7A1A"/>
                          </a:solidFill>
                        </a:rPr>
                        <a:t>POST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/api/login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Авторизація користувача та видача JWT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7A1A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/api/me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Отримання даних поточного користувача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7A4E00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/api/songs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Отримання локальних та Jamendo треків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7A1A"/>
                          </a:solidFill>
                        </a:rPr>
                        <a:t>POST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/api/songs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Додавання нового треку з файлом та обкладинкою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  <a:tr h="3918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7A1A"/>
                          </a:solidFill>
                        </a:rPr>
                        <a:t>GET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/api/recommendations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Персональні рекомендації за жанрами та лайками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ns3:rowId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Розробка медіа-плеєра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029200" cy="3749040"/>
          </a:xfrm>
          <a:prstGeom prst="rect">
            <a:avLst/>
          </a:prstGeom>
          <a:solidFill>
            <a:srgbClr val="11182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846320" cy="2377440"/>
          </a:xfrm>
          <a:prstGeom prst="rect">
            <a:avLst/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8463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</a:rPr>
              <a:t>▶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4846320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383280"/>
            <a:ext cx="1920240" cy="73152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13432" y="3328416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520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⏮  ⏪  ▶  ⏩  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</a:rPr>
              <a:t>🔊  ─────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</a:rPr>
              <a:t>00:45 / 03:22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77840" y="822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5C"/>
                </a:solidFill>
              </a:rPr>
              <a:t>Функції медіа-плеєра: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1261872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12161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Відтворення локальних і Jamendo аудіотреків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1609344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56362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Керування play/pause, previous/next, seek та volume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956816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1109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Підтримка лайків і рекомендацій для авторизованого користувача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77840" y="2304288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2258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Збереження поточного треку та режимів у localStorage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2651760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Автоматичне оновлення часу відтворення та прогрес-бару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2999232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29535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Перемикання між треками, shuffle та loop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3346704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06440" y="330098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Завантаження метаданих і обкладинки через jsmediatags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3694176"/>
            <a:ext cx="146304" cy="146304"/>
          </a:xfrm>
          <a:prstGeom prst="ellipse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36484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Інтеграція з backend API для треків та взаємодій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Рисунок 3. Інтерфейс медіа-плеєра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Адаптивний дизайн та UI/UX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384048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384048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412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🖥  Desktop (1920×1080)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3657600" cy="1645920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▶  Audio 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3657600" cy="43891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71800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 колонки  •  Sidebar навігація  •  Широкий плеєр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841248"/>
            <a:ext cx="201168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841248"/>
            <a:ext cx="2011680" cy="347472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8412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📱 Tablet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261872"/>
            <a:ext cx="1828800" cy="1005840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261872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</a:rPr>
              <a:t>▶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480560" y="2322576"/>
            <a:ext cx="1828800" cy="82296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322576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1 col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Grid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75120" y="841248"/>
            <a:ext cx="1371600" cy="27432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841248"/>
            <a:ext cx="13716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8412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📱 Mobile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48272" y="1261872"/>
            <a:ext cx="1225296" cy="731520"/>
          </a:xfrm>
          <a:prstGeom prst="rect">
            <a:avLst/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48272" y="1261872"/>
            <a:ext cx="1225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48272" y="2048256"/>
            <a:ext cx="1225296" cy="1188720"/>
          </a:xfrm>
          <a:prstGeom prst="rect">
            <a:avLst/>
          </a:prstGeom>
          <a:solidFill>
            <a:srgbClr val="E5E7E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48272" y="2048256"/>
            <a:ext cx="12252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Stack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</a:rPr>
              <a:t>layout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37490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</a:rPr>
              <a:t>Технології: Tailwind CSS  •  Flexbox / Grid  •  Responsive utility classes  •  Адаптивні маршрути та блоки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Рисунок 4. Адаптивний інтерфейс на різних пристроях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Оптимізація продуктивності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1463040"/>
          </a:xfrm>
          <a:prstGeom prst="rect">
            <a:avLst/>
          </a:prstGeom>
          <a:solidFill>
            <a:srgbClr val="F8FAFE"/>
          </a:solidFill>
          <a:ln w="1905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Кешування даних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songsCache та songsRequestPromise усувають дублювання запитів і повторне завантаження треків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4114800" cy="1463040"/>
          </a:xfrm>
          <a:prstGeom prst="rect">
            <a:avLst/>
          </a:prstGeom>
          <a:solidFill>
            <a:srgbClr val="F8FAFE"/>
          </a:solidFill>
          <a:ln w="19050">
            <a:solidFill>
              <a:srgbClr val="1E8B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868680"/>
            <a:ext cx="4114800" cy="41148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686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Поступове завантаження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3258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offset/limit для Jamendo дозволяють дозавантажувати треки частинами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4114800" cy="1463040"/>
          </a:xfrm>
          <a:prstGeom prst="rect">
            <a:avLst/>
          </a:prstGeom>
          <a:solidFill>
            <a:srgbClr val="F8FAFE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51760"/>
            <a:ext cx="41148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51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Стабілізація UI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1089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Context API, useEffectEvent і localStorage забезпечують передбачуваний стан плеєра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651760"/>
            <a:ext cx="4114800" cy="1463040"/>
          </a:xfrm>
          <a:prstGeom prst="rect">
            <a:avLst/>
          </a:prstGeom>
          <a:solidFill>
            <a:srgbClr val="F8FAFE"/>
          </a:solidFill>
          <a:ln w="19050">
            <a:solidFill>
              <a:srgbClr val="7B2D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2651760"/>
            <a:ext cx="4114800" cy="4114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651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Оптимізація медіа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1089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Cloudinary, локальний fallback та нормалізація URL спрощують роботу з файлами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Блок-схема алгоритму завантаження медіа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822960"/>
            <a:ext cx="2286000" cy="54864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822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Запит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користувача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371600"/>
            <a:ext cx="54864" cy="91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481328"/>
            <a:ext cx="2286000" cy="5486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4813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Перевірка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кешу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2029968"/>
            <a:ext cx="54864" cy="91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139696"/>
            <a:ext cx="2286000" cy="54864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13969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запит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2688336"/>
            <a:ext cx="54864" cy="91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798064"/>
            <a:ext cx="228600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7980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Обробка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даних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68880" y="3346704"/>
            <a:ext cx="54864" cy="9144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456432"/>
            <a:ext cx="228600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34564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Рендер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компонента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1572768"/>
            <a:ext cx="1645920" cy="365760"/>
          </a:xfrm>
          <a:prstGeom prst="rect">
            <a:avLst/>
          </a:prstGeom>
          <a:solidFill>
            <a:srgbClr val="FFF3CD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5727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E50"/>
                </a:solidFill>
              </a:rPr>
              <a:t>Є в кеші?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55724"/>
                </a:solidFill>
              </a:rPr>
              <a:t>ТАК → повернути кеш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389120" y="23957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21C24"/>
                </a:solidFill>
              </a:rPr>
              <a:t>НІ → виконати запит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914400"/>
            <a:ext cx="2560320" cy="301752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</a:rPr>
              <a:t>Context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0" y="1389888"/>
            <a:ext cx="137160" cy="1371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3441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Ручне кешування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1828800"/>
            <a:ext cx="137160" cy="1371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178308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fetch + Promise cache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2267712"/>
            <a:ext cx="137160" cy="1371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222199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Loading/Error стани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0" y="2706624"/>
            <a:ext cx="137160" cy="1371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66090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Jamendo pagination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3145536"/>
            <a:ext cx="137160" cy="1371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09981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localStorage sync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Рисунок 5. Блок-схема алгоритму отримання медіа даних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powerpoint/2010/main" xmlns:ns3="http://schemas.microsoft.com/office/drawing/2014/main" xmlns:ns4="http://schemas.openxmlformats.org/drawingml/2006/chart" xmlns:p="http://schemas.openxmlformats.org/presentationml/2006/main" xmlns:r="http://schemas.openxmlformats.org/officeDocument/2006/relationships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Тестування веб-сервісу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Таблиця 1. Перевірені функціональні модулі веб-сервісу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365760" y="1133856"/>
          <a:ext cx="4114800" cy="2194560"/>
        </p:xfrm>
        <a:graphic>
          <a:graphicData uri="http://schemas.openxmlformats.org/drawingml/2006/table">
            <a:tbl>
              <a:tblPr/>
              <a:tblGrid>
                <a:gridCol w="1028700">
                  <a:extLst>
                    <a:ext uri="{9D8B030D-6E8A-4147-A177-3AD203B41FA5}">
                      <ns3:colId val="20000"/>
                    </a:ext>
                  </a:extLst>
                </a:gridCol>
                <a:gridCol w="1028700">
                  <a:extLst>
                    <a:ext uri="{9D8B030D-6E8A-4147-A177-3AD203B41FA5}">
                      <ns3:colId val="20001"/>
                    </a:ext>
                  </a:extLst>
                </a:gridCol>
                <a:gridCol w="1028700">
                  <a:extLst>
                    <a:ext uri="{9D8B030D-6E8A-4147-A177-3AD203B41FA5}">
                      <ns3:colId val="20002"/>
                    </a:ext>
                  </a:extLst>
                </a:gridCol>
                <a:gridCol w="1028700">
                  <a:extLst>
                    <a:ext uri="{9D8B030D-6E8A-4147-A177-3AD203B41FA5}">
                      <ns3:colId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Модуль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Сценарії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Примітка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Player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play, pause, seek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Перевірено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local + Jamendo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Search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пошук, фільтрація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Перевірено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за назвою і жанром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Playlists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створення, збереження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Перевірено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localStorage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Auth + API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login, register, likes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Перевірено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JWT + recommendations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</a:rPr>
              <a:t>Таблиця 2. Реалізовані технічні характеристики</a:t>
            </a:r>
            <a:endParaRPr lang="en-US" sz="10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4663440" y="1133856"/>
          <a:ext cx="4114800" cy="21945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ns3:colId val="20000"/>
                    </a:ext>
                  </a:extLst>
                </a:gridCol>
                <a:gridCol w="2057400">
                  <a:extLst>
                    <a:ext uri="{9D8B030D-6E8A-4147-A177-3AD203B41FA5}">
                      <ns3:colId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Характеристика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Реалізація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Фронтенд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React 19 + Vite + Tailwind CSS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Маршрутизація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react-router-dom (HashRouter, Routes)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F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Стан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Context API, useState, useEffect, useRef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Інтеграції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Jamendo API, Cloudinary, jsmediatags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EF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Backend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</a:rPr>
                        <a:t>Express 5, Mongoose, JWT, multer</a:t>
                      </a:r>
                      <a:endParaRPr lang="en-US" sz="1000" dirty="0"/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</a:tbl>
          </a:graphicData>
        </a:graphic>
      </p:graphicFrame>
      <p:graphicFrame>
        <p:nvGraphicFramePr>
          <p:cNvPr id="8" name="Chart 0"/>
          <p:cNvGraphicFramePr/>
          <p:nvPr/>
        </p:nvGraphicFramePr>
        <p:xfrm>
          <a:off x="365760" y="3474720"/>
          <a:ext cx="8412480" cy="1280160"/>
        </p:xfrm>
        <a:graphic>
          <a:graphicData uri="http://schemas.openxmlformats.org/drawingml/2006/chart">
            <ns4:chart r:id="rId3"/>
          </a:graphicData>
        </a:graphic>
      </p:graphicFrame>
      <p:sp>
        <p:nvSpPr>
          <p:cNvPr id="9" name="Text 4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2="http://schemas.openxmlformats.org/drawingml/2006/chart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Результати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828800" cy="137160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React 19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Frontend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Tailwind CSS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41448" y="822960"/>
            <a:ext cx="1828800" cy="1371600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41448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Jamendo API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41448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Cloudinary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Uploads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08576" y="822960"/>
            <a:ext cx="1828800" cy="1371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JWT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08576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Auth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75704" y="822960"/>
            <a:ext cx="182880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75704" y="914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19 слайдів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75704" y="157276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Презентація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захисту</a:t>
            </a:r>
            <a:endParaRPr lang="en-US" sz="10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274320" y="2331720"/>
          <a:ext cx="5029200" cy="2423160"/>
        </p:xfrm>
        <a:graphic>
          <a:graphicData uri="http://schemas.openxmlformats.org/drawingml/2006/chart">
            <ns2:chart r:id="rId3"/>
          </a:graphicData>
        </a:graphic>
      </p:graphicFrame>
      <p:graphicFrame>
        <p:nvGraphicFramePr>
          <p:cNvPr id="17" name="Chart 1"/>
          <p:cNvGraphicFramePr/>
          <p:nvPr/>
        </p:nvGraphicFramePr>
        <p:xfrm>
          <a:off x="5486400" y="2331720"/>
          <a:ext cx="3383280" cy="2423160"/>
        </p:xfrm>
        <a:graphic>
          <a:graphicData uri="http://schemas.openxmlformats.org/drawingml/2006/chart">
            <ns2:chart r:id="rId4"/>
          </a:graphicData>
        </a:graphic>
      </p:graphicFrame>
      <p:sp>
        <p:nvSpPr>
          <p:cNvPr id="18" name="Text 14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88888"/>
                </a:solidFill>
              </a:rPr>
              <a:t>Рисунок 6. Динаміка продуктивності       Рисунок 7. Розподіл часу розробки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Висновки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192024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68680"/>
            <a:ext cx="438912" cy="43891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886968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Розроблено веб-сервіс медіа контенту на основі React 19 з компонентною архітектурою, маршрутизацією через React Router DOM та адаптивним інтерфейсом на Tailwind CSS.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4206240" cy="192024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438912" cy="438912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898648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Керування станом застосунку реалізовано через Context API, useState, useEffect та useRef, а завантаження даних виконується через fetch із ручним кешуванням.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206240" cy="1920240"/>
          </a:xfrm>
          <a:prstGeom prst="rect">
            <a:avLst/>
          </a:prstGeom>
          <a:solidFill>
            <a:srgbClr val="FEF9E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868680"/>
            <a:ext cx="438912" cy="43891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686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886968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Реалізовано інтеграцію з Express 5, MongoDB/Mongoose, Cloudinary, JWT-авторизацією та Jamendo API для отримання треків і формування рекомендацій.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834640"/>
            <a:ext cx="4206240" cy="1920240"/>
          </a:xfrm>
          <a:prstGeom prst="rect">
            <a:avLst/>
          </a:prstGeom>
          <a:solidFill>
            <a:srgbClr val="FEF9E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2880360"/>
            <a:ext cx="438912" cy="43891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880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2898648"/>
            <a:ext cx="3429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</a:rPr>
              <a:t>Практичним результатом є працездатний аудіосервіс з пошуком, плейлистами, лайками, рекомендаціями, завантаженням треків і збереженням користувацьких налаштувань.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9536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74320"/>
            <a:ext cx="3657600" cy="3657600"/>
          </a:xfrm>
          <a:prstGeom prst="ellipse">
            <a:avLst/>
          </a:prstGeom>
          <a:solidFill>
            <a:srgbClr val="1E8BC3">
              <a:alpha val="20000"/>
            </a:srgbClr>
          </a:solidFill>
          <a:ln w="12700">
            <a:solidFill>
              <a:srgbClr val="1E8BC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474720"/>
            <a:ext cx="4572000" cy="4572000"/>
          </a:xfrm>
          <a:prstGeom prst="ellipse">
            <a:avLst/>
          </a:prstGeom>
          <a:solidFill>
            <a:srgbClr val="1E8BC3">
              <a:alpha val="15000"/>
            </a:srgbClr>
          </a:solidFill>
          <a:ln w="12700">
            <a:solidFill>
              <a:srgbClr val="1E8BC3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1E8BC3">
              <a:alpha val="15000"/>
            </a:srgbClr>
          </a:solidFill>
          <a:ln w="12700">
            <a:solidFill>
              <a:srgbClr val="1E8BC3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3840480"/>
            <a:ext cx="3291840" cy="3291840"/>
          </a:xfrm>
          <a:prstGeom prst="ellipse">
            <a:avLst/>
          </a:prstGeom>
          <a:solidFill>
            <a:srgbClr val="1E8BC3">
              <a:alpha val="15000"/>
            </a:srgbClr>
          </a:solidFill>
          <a:ln w="12700">
            <a:solidFill>
              <a:srgbClr val="1E8BC3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Дякую за увагу!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2286000" y="2514600"/>
            <a:ext cx="4572000" cy="36576"/>
          </a:xfrm>
          <a:prstGeom prst="rect">
            <a:avLst/>
          </a:prstGeom>
          <a:solidFill>
            <a:srgbClr val="1E8BC3"/>
          </a:solidFill>
          <a:ln w="12700">
            <a:solidFill>
              <a:srgbClr val="1E8B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8F7"/>
                </a:solidFill>
              </a:rPr>
              <a:t>Азімов Расул Ельшанович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ECDE8"/>
                </a:solidFill>
              </a:rPr>
              <a:t>Науменко Ю.О.  |  Гончаренко Т.А.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ED4"/>
                </a:solidFill>
              </a:rPr>
              <a:t>Київський національний університет будівництва і архітектури  •  Кафедра ІТ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1184</Words>
  <Application>Microsoft Office PowerPoint</Application>
  <PresentationFormat>Экран (16:9)</PresentationFormat>
  <Paragraphs>292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Розробка веб-сервісу медіа контенту на фреймворку React</dc:title>
  <dc:subject>PptxGenJS Presentation</dc:subject>
  <dc:creator>Азімов Расул Ельшанович</dc:creator>
  <cp:lastModifiedBy>Расул Азімов</cp:lastModifiedBy>
  <cp:revision>3</cp:revision>
  <dcterms:created xsi:type="dcterms:W3CDTF">2026-05-18T15:58:50Z</dcterms:created>
  <dcterms:modified xsi:type="dcterms:W3CDTF">2026-05-18T16:13:38Z</dcterms:modified>
</cp:coreProperties>
</file>